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B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B2E"/>
                </a:solidFill>
                <a:latin typeface="Calibri"/>
              </a:rPr>
              <a:t>Valores nulos por variable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nulos</c:v>
                </c:pt>
              </c:strCache>
            </c:strRef>
          </c:tx>
          <c:spPr>
            <a:solidFill>
              <a:srgbClr val="1FA89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Satisfacción NPS</c:v>
                </c:pt>
                <c:pt idx="1">
                  <c:v>Tickets de soporte</c:v>
                </c:pt>
                <c:pt idx="2">
                  <c:v>Sesiones por mes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11.99</c:v>
                </c:pt>
                <c:pt idx="1">
                  <c:v>8.2100000000000009</c:v>
                </c:pt>
                <c:pt idx="2">
                  <c:v>5.15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08-43C6-A98F-B88D837A39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B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B2E"/>
                </a:solidFill>
                <a:latin typeface="Calibri"/>
              </a:rPr>
              <a:t>Error absoluto medio (USD por cliente)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(USD)</c:v>
                </c:pt>
              </c:strCache>
            </c:strRef>
          </c:tx>
          <c:spPr>
            <a:solidFill>
              <a:srgbClr val="1FA89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70-4FE6-A113-AE5672AFBC8F}"/>
              </c:ext>
            </c:extLst>
          </c:dPt>
          <c:dPt>
            <c:idx val="1"/>
            <c:invertIfNegative val="0"/>
            <c:bubble3D val="0"/>
            <c:spPr>
              <a:solidFill>
                <a:srgbClr val="9AA9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70-4FE6-A113-AE5672AFBC8F}"/>
              </c:ext>
            </c:extLst>
          </c:dPt>
          <c:dLbls>
            <c:numFmt formatCode="&quot;USD 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C2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Modelo</c:v>
                </c:pt>
                <c:pt idx="1">
                  <c:v>Línea base (predecir el promedio)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68.34</c:v>
                </c:pt>
                <c:pt idx="1">
                  <c:v>266.61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70-4FE6-A113-AE5672AFBC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B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B2E"/>
                </a:solidFill>
                <a:latin typeface="Calibri"/>
              </a:rPr>
              <a:t>Impacto en el MRR por +1 desv. est. (USD)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(USD)</c:v>
                </c:pt>
              </c:strCache>
            </c:strRef>
          </c:tx>
          <c:spPr>
            <a:solidFill>
              <a:srgbClr val="1FA89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CD-42A5-A56C-7C70118D424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CD-42A5-A56C-7C70118D424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0CD-42A5-A56C-7C70118D424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0CD-42A5-A56C-7C70118D424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0CD-42A5-A56C-7C70118D424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0CD-42A5-A56C-7C70118D4243}"/>
              </c:ext>
            </c:extLst>
          </c:dPt>
          <c:dPt>
            <c:idx val="6"/>
            <c:invertIfNegative val="0"/>
            <c:bubble3D val="0"/>
            <c:spPr>
              <a:solidFill>
                <a:srgbClr val="C050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0CD-42A5-A56C-7C70118D4243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Tamaño de empresa</c:v>
                </c:pt>
                <c:pt idx="1">
                  <c:v>Sesiones por mes</c:v>
                </c:pt>
                <c:pt idx="2">
                  <c:v>Duración del contrato</c:v>
                </c:pt>
                <c:pt idx="3">
                  <c:v>Pago puntual</c:v>
                </c:pt>
                <c:pt idx="4">
                  <c:v>Satisfacción (NPS)</c:v>
                </c:pt>
                <c:pt idx="5">
                  <c:v>Gasto en marketing</c:v>
                </c:pt>
                <c:pt idx="6">
                  <c:v>Tickets de soporte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236.2</c:v>
                </c:pt>
                <c:pt idx="1">
                  <c:v>175.1</c:v>
                </c:pt>
                <c:pt idx="2">
                  <c:v>86.1</c:v>
                </c:pt>
                <c:pt idx="3">
                  <c:v>81.2</c:v>
                </c:pt>
                <c:pt idx="4">
                  <c:v>48</c:v>
                </c:pt>
                <c:pt idx="5">
                  <c:v>33</c:v>
                </c:pt>
                <c:pt idx="6">
                  <c:v>-29.4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0CD-42A5-A56C-7C70118D42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0"/>
          <c:min val="-7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558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SaaSFlow: modelo para predecir el MRR mensual esperado por cliente en el próximo trimestre.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anticipar ingresos y retención. El ROI se justifica por el tamaño del MRR gestionado (≈USD 21,3 M mensuales) y la reducción de 74% del error frente a una línea base. El valor de USD 213 mil por cada 1% es una cuenta ilustrativa, no un resultado del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Datos: 30.000 clientes, sin duplicados ni inconsistencias de contenido. Nulos en NPS (11,99%), tickets (8,21%) y sesiones (5,15%). Las variables más sesgadas son sesiones (1,97) y MRR (1,05); por eso se usan mediana y RobustScaler en lugar de eliminar registros.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R² de prueba 0,924 vs 0,919 en entrenamiento. MAE de USD 68,34 frente a USD 266,61 de la línea base: 74,4% menos error. Sirve para priorizar clientes y proyectar el MRR total; no garantiza exactitud individual. El error es algo mayor en clientes de mayor ingreso.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ordenadas por impacto de +1 desviación estándar. Tamaño de empresa, uso de la plataforma, duración del contrato y pago puntual lideran; sector y antigüedad no aportan. Son asociaciones, no causas: conviene validar las acciones con pilotos.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espacio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502920"/>
            <a:ext cx="4114800" cy="4114800"/>
          </a:xfrm>
          <a:prstGeom prst="ellipse">
            <a:avLst/>
          </a:prstGeom>
          <a:solidFill>
            <a:srgbClr val="1FA897">
              <a:alpha val="12000"/>
            </a:srgbClr>
          </a:solidFill>
          <a:ln w="12700">
            <a:solidFill>
              <a:srgbClr val="1FA89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89320" y="1097280"/>
            <a:ext cx="2926080" cy="2926080"/>
          </a:xfrm>
          <a:prstGeom prst="ellipse">
            <a:avLst/>
          </a:prstGeom>
          <a:solidFill>
            <a:srgbClr val="1FA897">
              <a:alpha val="25000"/>
            </a:srgbClr>
          </a:solidFill>
          <a:ln w="12700">
            <a:solidFill>
              <a:srgbClr val="1FA89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691640"/>
            <a:ext cx="1737360" cy="173736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1031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1FA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SaaSFlow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del MRR mensual del próximo trimestre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F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regresión lineal para retención y proyección de ingresos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Acosta · Bruno Aldana · Alanis Figueroa · Benjamin Jara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problema de negocio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" y="153207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Planteamiento del problema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ingresos recurrentes dependen de la retención. Sin anticipar el MRR de cada cliente, Customer Success reacciona tarde y la proyección de ingresos pierde precisión.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4846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3200400"/>
            <a:ext cx="594360" cy="59436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77" y="336087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108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modelo predictivo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4747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el MRR mensual esperado (USD) de cada cliente para el próximo trimestre, con una regresión lineal interpretable: entrenada con 24.000 clientes y validada con 6.000.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577840" y="1097280"/>
            <a:ext cx="3108960" cy="3520440"/>
          </a:xfrm>
          <a:prstGeom prst="rect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60720" y="1261872"/>
            <a:ext cx="411480" cy="41148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820" y="1372972"/>
            <a:ext cx="189281" cy="18928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 del ROI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76072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A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21,3 M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57607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mensual de la cartera (30.000 clientes × USD 711 promedio)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76072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A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−74 %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576072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frente a predecir siempre el MRR promedio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76072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A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USD 213 mil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576072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 por cada 1 % de MRR protegido (cálculo ilustrativo)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y tratamiento de datos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548640" y="1143000"/>
          <a:ext cx="438912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97280"/>
            <a:ext cx="3474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39496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y atípicos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5361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A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1,97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536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por mes · 4,6 % atípicos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A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1920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objetivo · 2,0 % atípicos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3042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A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0,57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304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de soporte · 1,1 % atípicos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27249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grande = asimetría (más alto, más sesgo). 23,5 % de las filas tiene al menos un nulo, sin relación con el MRR (p &gt; 0,05).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2651760" cy="1371600"/>
          </a:xfrm>
          <a:prstGeom prst="rect">
            <a:avLst/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538728"/>
            <a:ext cx="347472" cy="347472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77" y="3632545"/>
            <a:ext cx="159837" cy="15983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24128" y="3538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Imputación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" y="3977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 variables continuas; moda en discretas y categóricas (NPS, tickets, tamaño, sector).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46120" y="3429000"/>
            <a:ext cx="2651760" cy="1371600"/>
          </a:xfrm>
          <a:prstGeom prst="rect">
            <a:avLst/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383280" y="3538728"/>
            <a:ext cx="347472" cy="347472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097" y="3632545"/>
            <a:ext cx="159837" cy="1598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813048" y="3538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Transformaciones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383280" y="3977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→ antigüedad en días; contrato → meses (1/12/24); pago → 0/1; tamaño ordinal; sector one-hot.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035040" y="3429000"/>
            <a:ext cx="2651760" cy="1371600"/>
          </a:xfrm>
          <a:prstGeom prst="rect">
            <a:avLst/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172200" y="3538728"/>
            <a:ext cx="347472" cy="347472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017" y="3632545"/>
            <a:ext cx="159837" cy="15983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601968" y="3538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Escalado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172200" y="3977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(mediana e IQR) en variables continuas y discretas. Sin eliminar atípicos ni fuga de datos.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modelo y métricas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A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en prueba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≈ 92 % de las diferencias de MRR entre clientes. En entrenamiento: 0,919, por lo que no hay sobreajuste.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9443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A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68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por cliente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94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≈ 9,6 % del MRR promedio de los clientes de prueba (USD 708).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097280"/>
            <a:ext cx="50292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2" name="Chart 0"/>
          <p:cNvGraphicFramePr/>
          <p:nvPr/>
        </p:nvGraphicFramePr>
        <p:xfrm>
          <a:off x="3749040" y="1143000"/>
          <a:ext cx="48463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3657600" y="3520440"/>
            <a:ext cx="5029200" cy="914400"/>
          </a:xfrm>
          <a:prstGeom prst="rect">
            <a:avLst/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40480" y="35661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 equivoca, en promedio, en ≈ USD 68 por cliente.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F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cliente puntual, leer la predicción como «valor esperado ± USD 70».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estratégicas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548640" y="1143000"/>
          <a:ext cx="40233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92040" y="1097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para Customer Success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892040" y="1554480"/>
            <a:ext cx="365760" cy="36576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920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508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Impulsar el uso. </a:t>
            </a: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alertas cuando las sesiones caen bajo la mediana (+25 sesiones ≈ +USD 100).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92040" y="2194560"/>
            <a:ext cx="365760" cy="36576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148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el pago puntual. </a:t>
            </a: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y débito automático; pagar a tiempo ≈ +USD 204.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92040" y="2834640"/>
            <a:ext cx="365760" cy="36576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27889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fricción de soporte. </a:t>
            </a: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ticket extra ≈ −USD 18: resolver la causa raíz.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92040" y="3474720"/>
            <a:ext cx="365760" cy="36576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3429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contratos anuales. </a:t>
            </a: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de renovación anticipada (≈ +USD 11 por mes de compromiso).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92040" y="4114800"/>
            <a:ext cx="365760" cy="365760"/>
          </a:xfrm>
          <a:prstGeom prst="ellipse">
            <a:avLst/>
          </a:prstGeom>
          <a:solidFill>
            <a:srgbClr val="1FA897"/>
          </a:solidFill>
          <a:ln w="12700">
            <a:solidFill>
              <a:srgbClr val="1FA89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40690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por valor. </a:t>
            </a: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Ejecutivos dedicados a clientes Grandes; actuar donde la brecha supere ≈ USD 70.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1FA897">
              <a:alpha val="12000"/>
            </a:srgbClr>
          </a:solidFill>
          <a:ln w="12700">
            <a:solidFill>
              <a:srgbClr val="1FA897">
                <a:alpha val="12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8488" y="1615076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4203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F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MRR más predecible permite retener mejor y planificar con confianza.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38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Acosta · Bruno Aldana · Alanis Figueroa · Benjamin Jara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765</Words>
  <Application>Microsoft Office PowerPoint</Application>
  <PresentationFormat>Presentación en pantalla (16:9)</PresentationFormat>
  <Paragraphs>71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SaaSFlow | Predicción del MRR del próximo trimestre</dc:title>
  <dc:subject>PptxGenJS Presentation</dc:subject>
  <dc:creator>Renato Acosta, Bruno Aldana, Alanis Figueroa, Benjamin Jara</dc:creator>
  <cp:lastModifiedBy>Asus</cp:lastModifiedBy>
  <cp:revision>2</cp:revision>
  <dcterms:created xsi:type="dcterms:W3CDTF">2026-10-01T16:51:21Z</dcterms:created>
  <dcterms:modified xsi:type="dcterms:W3CDTF">2026-10-01T22:51:37Z</dcterms:modified>
</cp:coreProperties>
</file>