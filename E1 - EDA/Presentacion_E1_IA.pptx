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Nulos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Attendance</c:v>
                </c:pt>
                <c:pt idx="1">
                  <c:v>Assignments
Completed</c:v>
                </c:pt>
                <c:pt idx="2">
                  <c:v>StudyHours</c:v>
                </c:pt>
                <c:pt idx="3">
                  <c:v>InternetHours</c:v>
                </c:pt>
                <c:pt idx="4">
                  <c:v>PreviousGPA</c:v>
                </c:pt>
                <c:pt idx="5">
                  <c:v>SleepHours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4.3899999999999997</c:v>
                </c:pt>
                <c:pt idx="1">
                  <c:v>4.24</c:v>
                </c:pt>
                <c:pt idx="2">
                  <c:v>3.55</c:v>
                </c:pt>
                <c:pt idx="3">
                  <c:v>3.45</c:v>
                </c:pt>
                <c:pt idx="4">
                  <c:v>3.18</c:v>
                </c:pt>
                <c:pt idx="5">
                  <c:v>2.39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93-4544-8C0D-CF8D9A3EBE7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5"/>
        </c:scaling>
        <c:delete val="0"/>
        <c:axPos val="l"/>
        <c:majorGridlines>
          <c:spPr>
            <a:ln w="9525" cap="flat">
              <a:solidFill>
                <a:srgbClr val="E2E9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459472327863779"/>
          <c:y val="3.9173789173789171E-2"/>
          <c:w val="0.71201293290719614"/>
          <c:h val="0.8794577360522242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dLbl>
              <c:idx val="3"/>
              <c:layout>
                <c:manualLayout>
                  <c:x val="2.5391171341677529E-3"/>
                  <c:y val="-3.5612535612535613E-3"/>
                </c:manualLayout>
              </c:layout>
              <c:tx>
                <c:rich>
                  <a:bodyPr/>
                  <a:lstStyle/>
                  <a:p>
                    <a:r>
                      <a:rPr lang="en-US" dirty="0" smtClean="0"/>
                      <a:t>0,69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0-4F2D-4849-87BF-A2754FEC2140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1B2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Attendance</c:v>
                </c:pt>
                <c:pt idx="1">
                  <c:v>StudyHours</c:v>
                </c:pt>
                <c:pt idx="2">
                  <c:v>PreviousGPA</c:v>
                </c:pt>
                <c:pt idx="3">
                  <c:v>AssignmentsCompleted</c:v>
                </c:pt>
                <c:pt idx="4">
                  <c:v>Age</c:v>
                </c:pt>
                <c:pt idx="5">
                  <c:v>InternetHours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0.59</c:v>
                </c:pt>
                <c:pt idx="1">
                  <c:v>0.49</c:v>
                </c:pt>
                <c:pt idx="2">
                  <c:v>0.66</c:v>
                </c:pt>
                <c:pt idx="3">
                  <c:v>0.69</c:v>
                </c:pt>
                <c:pt idx="4">
                  <c:v>-0.02</c:v>
                </c:pt>
                <c:pt idx="5">
                  <c:v>-0.1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FA-4B21-B027-BEE8AB3D9E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-0.3"/>
        </c:scaling>
        <c:delete val="0"/>
        <c:axPos val="b"/>
        <c:majorGridlines>
          <c:spPr>
            <a:ln w="9525" cap="flat">
              <a:solidFill>
                <a:srgbClr val="E2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FA18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Con beca</c:v>
                </c:pt>
                <c:pt idx="1">
                  <c:v>Sin beca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4.37</c:v>
                </c:pt>
                <c:pt idx="1">
                  <c:v>4.08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B2-4318-8B52-36829EBC30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5999999999999996"/>
          <c:min val="3.6"/>
        </c:scaling>
        <c:delete val="0"/>
        <c:axPos val="l"/>
        <c:majorGridlines>
          <c:spPr>
            <a:ln w="9525" cap="flat">
              <a:solidFill>
                <a:srgbClr val="E2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Administración</c:v>
                </c:pt>
                <c:pt idx="1">
                  <c:v>Ing. Informática</c:v>
                </c:pt>
                <c:pt idx="2">
                  <c:v>Ing. Industrial</c:v>
                </c:pt>
                <c:pt idx="3">
                  <c:v>Ing. Civil</c:v>
                </c:pt>
                <c:pt idx="4">
                  <c:v>Contador Auditor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4.2320000000000002</c:v>
                </c:pt>
                <c:pt idx="1">
                  <c:v>4.2309999999999999</c:v>
                </c:pt>
                <c:pt idx="2">
                  <c:v>4.2030000000000003</c:v>
                </c:pt>
                <c:pt idx="3">
                  <c:v>4.1100000000000003</c:v>
                </c:pt>
                <c:pt idx="4">
                  <c:v>4.0460000000000003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0E-45F1-A3E2-ED5F2D2215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4000000000000004"/>
          <c:min val="3.8"/>
        </c:scaling>
        <c:delete val="0"/>
        <c:axPos val="b"/>
        <c:majorGridlines>
          <c:spPr>
            <a:ln w="9525" cap="flat">
              <a:solidFill>
                <a:srgbClr val="E2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&lt;60%</c:v>
                </c:pt>
                <c:pt idx="1">
                  <c:v>60–75%</c:v>
                </c:pt>
                <c:pt idx="2">
                  <c:v>75–85%</c:v>
                </c:pt>
                <c:pt idx="3">
                  <c:v>&gt;85%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</c:v>
                </c:pt>
                <c:pt idx="1">
                  <c:v>3.25</c:v>
                </c:pt>
                <c:pt idx="2">
                  <c:v>3.92</c:v>
                </c:pt>
                <c:pt idx="3">
                  <c:v>4.6900000000000004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07-47B8-863F-F7869B134D4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9525" cap="flat">
              <a:solidFill>
                <a:srgbClr val="E2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7675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5488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95578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851359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80709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934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34550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6613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56212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57513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6740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53713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2631065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36684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85366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1443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304630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231430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737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9/3/2026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4496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chart" Target="../charts/char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 ·  CALIDAD Y PREPARACIÓN DE DATOS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Diagnóstico, EDA y Tratamiento del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 Académico Estudiantil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rendimiento_academico_evaluacion.csv  →  rendimiento_academico_limpio.csv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6177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617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Acosta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46177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4617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Aldana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46177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4617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Alanis Figueroa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41080" y="461772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41080" y="4617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Jara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080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y objetivo del trabajo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9496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institución de educación superior busca analizar el rendimiento académico de sus estudiantes a partir de un dataset con variables demográficas, hábitos de estudio, antecedentes académicos y resultado final.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analizarlo, era necesario determinar si el dataset presentaba problemas de calidad que pudieran afectar las conclusiones.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fuente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rendimiento_academico_evaluacion.csv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91640"/>
            <a:ext cx="5532120" cy="4434840"/>
          </a:xfrm>
          <a:prstGeom prst="roundRect">
            <a:avLst>
              <a:gd name="adj" fmla="val 185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proceso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2423160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423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3500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Diagnosticar la calidad de los datos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92240" y="28437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8437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7706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y justificar los problemas presentes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3264408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2240" y="32644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31912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un análisis exploratorio (EDA)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92240" y="3685032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92240" y="36850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36118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preguntas de investigación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4105656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92240" y="41056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403250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 implementar estrategias de tratamiento con Pipeline / ColumnTransformer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4526280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92240" y="45262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44531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un dataset final limpio en CSV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Caracterización del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02920" y="1783080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450592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55848" y="169164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55848" y="1783080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450592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totales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08776" y="169164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08776" y="1783080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450592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61704" y="1691640"/>
            <a:ext cx="267004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61704" y="1783080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A1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061704" y="2450592"/>
            <a:ext cx="267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291840"/>
            <a:ext cx="539496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474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variable objetivo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8404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StudentID  </a:t>
            </a: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identificador único del estudiante
</a:t>
            </a: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 </a:t>
            </a: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variable objetivo (resultado académico, escala 1.0–10.0)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valores nulos en ninguna de las dos variables.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291840"/>
            <a:ext cx="553212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92240" y="3474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numéricas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794760"/>
            <a:ext cx="2560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StudyHours, Attendance, PreviousGPA, AssignmentsCompleted, SleepHours, InternetHours, FinalGrade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81160" y="3520440"/>
            <a:ext cx="0" cy="2377440"/>
          </a:xfrm>
          <a:prstGeom prst="line">
            <a:avLst/>
          </a:prstGeom>
          <a:noFill/>
          <a:ln w="15875">
            <a:solidFill>
              <a:srgbClr val="E2E9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09760" y="3474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categóricas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509760" y="37947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 (beca)</a:t>
            </a:r>
            <a:endParaRPr lang="en-US" sz="12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(programa académico)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encontrados: faltantes y duplicados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49224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 por variable (Top 6)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77240" y="2240280"/>
          <a:ext cx="594360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" y="484632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</a:t>
            </a: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1.335 valores faltantes en 9 variables (ninguna supera el 5%).
</a:t>
            </a: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Estrategia: </a:t>
            </a: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mediana dentro del Pipeline (robusta ante outliers).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78040" y="1691640"/>
            <a:ext cx="4526280" cy="4434840"/>
          </a:xfrm>
          <a:prstGeom prst="roundRect">
            <a:avLst>
              <a:gd name="adj" fmla="val 185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52360" y="1874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3317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58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246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 exactos  ·  1,96% del dataset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52360" y="3886200"/>
            <a:ext cx="397764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52360" y="40690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variables —incluido StudentID— se repiten de forma idéntica: corresponde a duplicación en la carga de datos, no a nuevas observaciones.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Decisión: eliminar duplicados, conservando la primera ocurrencia (drop_duplicates).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INCONSISTENCIAS Y OUTLIERS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Inconsistencias de formato y de dominio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828800" cy="566928"/>
          </a:xfrm>
          <a:prstGeom prst="rect">
            <a:avLst/>
          </a:prstGeom>
          <a:solidFill>
            <a:srgbClr val="0B2545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1691640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31720" y="1691640"/>
            <a:ext cx="4663440" cy="566928"/>
          </a:xfrm>
          <a:prstGeom prst="rect">
            <a:avLst/>
          </a:prstGeom>
          <a:solidFill>
            <a:srgbClr val="0B2545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691640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detectado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95160" y="1691640"/>
            <a:ext cx="777240" cy="566928"/>
          </a:xfrm>
          <a:prstGeom prst="rect">
            <a:avLst/>
          </a:prstGeom>
          <a:solidFill>
            <a:srgbClr val="0B2545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04888" y="1691640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1691640"/>
            <a:ext cx="3931920" cy="566928"/>
          </a:xfrm>
          <a:prstGeom prst="rect">
            <a:avLst/>
          </a:prstGeom>
          <a:solidFill>
            <a:srgbClr val="0B2545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82128" y="1691640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258568"/>
            <a:ext cx="182880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" y="2258568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331720" y="2258568"/>
            <a:ext cx="466344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41448" y="2258568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Variaciones de escritura ("si", " NO", "SÍ")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95160" y="2258568"/>
            <a:ext cx="77724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04888" y="2258568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0" y="2258568"/>
            <a:ext cx="393192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82128" y="2258568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texto → "Sí" / "No"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2825496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" y="2825496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331720" y="2825496"/>
            <a:ext cx="4663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825496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tipográficos ("Administracion", mayúsculas)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995160" y="2825496"/>
            <a:ext cx="777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04888" y="2825496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0" y="2825496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82128" y="2825496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a 5 programas canónicos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392424"/>
            <a:ext cx="182880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" y="3392424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331720" y="3392424"/>
            <a:ext cx="466344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441448" y="3392424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fuera de [0, 100] (−19,96% a 122,97%)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95160" y="3392424"/>
            <a:ext cx="77724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04888" y="3392424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0" y="3392424"/>
            <a:ext cx="393192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882128" y="3392424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NaN + imputación por mediana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02920" y="3959352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2648" y="3959352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SleepHours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331720" y="3959352"/>
            <a:ext cx="4663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441448" y="3959352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negativas (hasta −7,71 h)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995160" y="3959352"/>
            <a:ext cx="777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104888" y="3959352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772400" y="3959352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882128" y="3959352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NaN + imputación por mediana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02920" y="4526280"/>
            <a:ext cx="182880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2648" y="4526280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331720" y="4526280"/>
            <a:ext cx="466344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441448" y="4526280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≥ 24 h/día (hasta 69,5 h)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995160" y="4526280"/>
            <a:ext cx="77724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104888" y="4526280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7772400" y="4526280"/>
            <a:ext cx="3931920" cy="566928"/>
          </a:xfrm>
          <a:prstGeom prst="rect">
            <a:avLst/>
          </a:prstGeom>
          <a:solidFill>
            <a:srgbClr val="EAF1F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82128" y="4526280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NaN + imputación por mediana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02920" y="5093208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2648" y="5093208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(objetivo)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2331720" y="5093208"/>
            <a:ext cx="4663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441448" y="5093208"/>
            <a:ext cx="4443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fuera de escala oficial [1.0, 10.0]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995160" y="5093208"/>
            <a:ext cx="7772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104888" y="5093208"/>
            <a:ext cx="557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772400" y="5093208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882128" y="5093208"/>
            <a:ext cx="3712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filas (evita etiquetas falsas)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502920" y="5843016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</a:t>
            </a: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detectadas en total (dominio + formato). Se revisaron todas las variables numéricas; Age, PreviousGPA, StudyHours y AssignmentsCompleted no presentaron inconsistencias de dominio.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INCONSISTENCIAS Y OUTLIERS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atípicos: extremo legítimo vs. inválido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BEEEE"/>
          </a:solidFill>
          <a:ln w="12700">
            <a:solidFill>
              <a:srgbClr val="F0C9C9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D645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INVÁLIDO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7A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 captura / de sistema — viola el dominio lógico o la escala oficial de la variable.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registros fuera de [0, 100]%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44728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SleepHours: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registros negativos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3133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registros ≥ 24 h/día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21538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(objetivo):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registros fuera de [1.0, 10.0]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73659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7A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Tratamiento: reemplazo por NaN + mediana (predictoras); eliminación de filas en FinalGrade.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691640"/>
            <a:ext cx="5486400" cy="4434840"/>
          </a:xfrm>
          <a:prstGeom prst="roundRect">
            <a:avLst>
              <a:gd name="adj" fmla="val 1856"/>
            </a:avLst>
          </a:prstGeom>
          <a:solidFill>
            <a:srgbClr val="EAF7F2"/>
          </a:solidFill>
          <a:ln w="12700">
            <a:solidFill>
              <a:srgbClr val="C7E8DA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187452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1FA1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1874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EXTREMO LEGÍTIMO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377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1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fuera del rango IQR, pero dentro del dominio lógico: representa un perfil real de estudiante.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063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registros (34–80 años): reingreso a estudios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registros (26–98,3 h/semana): alta dedicación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069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PreviousGPA / AssignmentsCompleted: 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la escala válida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7091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Tratamiento: Winsorización IQR (factor 1,5) dentro del Pipeline, sobre las 7 variables numéricas predictoras — no se eliminan registros reales.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INCONSISTENCIAS Y OUTLIERS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decisiones de tratamiento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834640" cy="489204"/>
          </a:xfrm>
          <a:prstGeom prst="rect">
            <a:avLst/>
          </a:prstGeom>
          <a:solidFill>
            <a:srgbClr val="1C7293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1691640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37560" y="1691640"/>
            <a:ext cx="3520440" cy="489204"/>
          </a:xfrm>
          <a:prstGeom prst="rect">
            <a:avLst/>
          </a:prstGeom>
          <a:solidFill>
            <a:srgbClr val="1C7293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47288" y="1691640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0" y="1691640"/>
            <a:ext cx="4846320" cy="489204"/>
          </a:xfrm>
          <a:prstGeom prst="rect">
            <a:avLst/>
          </a:prstGeom>
          <a:solidFill>
            <a:srgbClr val="1C7293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67728" y="1691640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180844"/>
            <a:ext cx="28346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" y="2180844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exactos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2180844"/>
            <a:ext cx="35204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47288" y="2180844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(conservar 1ª ocurrencia)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2180844"/>
            <a:ext cx="484632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67728" y="2180844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carga duplicada, no a nuevas observaciones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670048"/>
            <a:ext cx="283464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" y="2670048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 (&lt; 5%)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2670048"/>
            <a:ext cx="352044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47288" y="2670048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mediana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0" y="2670048"/>
            <a:ext cx="484632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67728" y="2670048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Robusta frente a outliers; no distorsiona la distribución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159252"/>
            <a:ext cx="28346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2648" y="3159252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categórico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3159252"/>
            <a:ext cx="35204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47288" y="3159252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a categorías canónicas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0" y="3159252"/>
            <a:ext cx="484632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67728" y="3159252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Unifica variantes de texto sin perder información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648456"/>
            <a:ext cx="283464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" y="3648456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inválido (predictoras)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37560" y="3648456"/>
            <a:ext cx="352044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47288" y="3648456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NaN + imputación por mediana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58000" y="3648456"/>
            <a:ext cx="484632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67728" y="3648456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tratamiento robusto que los faltantes originales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137660"/>
            <a:ext cx="28346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" y="4137660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inválido (FinalGrade)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337560" y="4137660"/>
            <a:ext cx="35204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47288" y="4137660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filas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0" y="4137660"/>
            <a:ext cx="484632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67728" y="4137660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Imputar el objetivo introduciría etiquetas falsas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2920" y="4626864"/>
            <a:ext cx="283464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2648" y="4626864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legítimos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337560" y="4626864"/>
            <a:ext cx="352044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47288" y="4626864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Winsorización IQR (factor 1,5)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858000" y="4626864"/>
            <a:ext cx="4846320" cy="489204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4626864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Neutraliza el efecto extremo sin eliminar casos reales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5116068"/>
            <a:ext cx="28346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2648" y="5116068"/>
            <a:ext cx="26334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/ codificación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337560" y="5116068"/>
            <a:ext cx="352044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47288" y="5116068"/>
            <a:ext cx="331927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RobustScaler + OrdinalEncoder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858000" y="5116068"/>
            <a:ext cx="4846320" cy="489204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67728" y="5116068"/>
            <a:ext cx="4645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 a outliers residuales; conserva 11 columnas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502920" y="5769864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estas estrategias se implementan de forma reproducible mediante Pipeline y ColumnTransformer de scikit-learn (sección 4).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EXPLORATORIO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distribución de FinalGrade y correlaciones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FinalGrade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4.17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4.23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6634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oficial [1.0, 10.0]. Distribución razonablemente simétrica (media ≈ mediana), con rendimiento promedio cercano al umbral de aprobación (4.0).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691640"/>
            <a:ext cx="726948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70916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Pearson con FinalGrade</a:t>
            </a:r>
            <a:endParaRPr lang="en-US" sz="1400" dirty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2611256818"/>
              </p:ext>
            </p:extLst>
          </p:nvPr>
        </p:nvGraphicFramePr>
        <p:xfrm>
          <a:off x="4709160" y="2286000"/>
          <a:ext cx="67208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EXPLORATORIO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de investigación: beca y programa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¿Existe diferencia en FinalGrade entre estudiantes con y sin beca?</a:t>
            </a:r>
            <a:endParaRPr lang="en-US" sz="13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777240" y="2926080"/>
          <a:ext cx="489204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77240" y="5212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Diferencia: +0,29 pts </a:t>
            </a: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 de los estudiantes con beca.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691640"/>
            <a:ext cx="54864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9224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1488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programa académico presenta el mayor promedio?</a:t>
            </a:r>
            <a:endParaRPr lang="en-US" sz="1350" dirty="0"/>
          </a:p>
        </p:txBody>
      </p:sp>
      <p:graphicFrame>
        <p:nvGraphicFramePr>
          <p:cNvPr id="12" name="Chart 1"/>
          <p:cNvGraphicFramePr/>
          <p:nvPr/>
        </p:nvGraphicFramePr>
        <p:xfrm>
          <a:off x="6492240" y="2926080"/>
          <a:ext cx="502920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92240" y="521208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Diferencia: solo 0,19 pts </a:t>
            </a: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mayor (Administración) y el menor (Contador Auditor) — prácticamente insignificante.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EXPLORATORIO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de investigación: horas de estudio y asistencia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¿Relación entre StudyHours y FinalGrade?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0,49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positiva de intensidad moderada: a mayor cantidad de horas de estudio semanal, mayor tiende a ser la nota final. Es un factor relevante, aunque no el único determinante.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4864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9224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¿Relación entre Attendance y FinalGrade?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514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0,59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más alta del dataset</a:t>
            </a:r>
            <a:endParaRPr lang="en-US" sz="105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6492240" y="3794760"/>
          <a:ext cx="502920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492240" y="36118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promedio por tramo de asistencia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ANÁLISIS EXPLORATORIO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generales del EDA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</a:t>
            </a:r>
            <a:r>
              <a:rPr lang="en-US" sz="1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anterior y </a:t>
            </a:r>
            <a:r>
              <a:rPr lang="en-US" sz="16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</a:t>
            </a:r>
            <a:r>
              <a:rPr lang="en-US" sz="1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r>
              <a:rPr lang="en-US" sz="1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los factores individuales más asociados al rendimiento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402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 err="1" smtClean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PreviousGPA</a:t>
            </a:r>
            <a:r>
              <a:rPr lang="en-US" sz="1250" dirty="0" smtClean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≈ </a:t>
            </a:r>
            <a:r>
              <a:rPr lang="en-US" sz="1250" dirty="0" smtClean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0,66) </a:t>
            </a: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dirty="0" err="1" smtClean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AssignmentsCompleted</a:t>
            </a:r>
            <a:r>
              <a:rPr lang="en-US" sz="1250" dirty="0" smtClean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≈ </a:t>
            </a:r>
            <a:r>
              <a:rPr lang="en-US" sz="1250" dirty="0" smtClean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0,69</a:t>
            </a: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son las correlaciones más altas con FinalGrade.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1272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beca mejora el rendimiento; el programa académico casi no influye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661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beca: +0,29 pts de diferencia. Entre programas: solo 0,19 pts — diferencia no relevante.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4531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se distribuye de forma simétrica en torno al umbral de aprobación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92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4,17 y mediana 4,23 en la escala oficial [1.0, 10.0], sin sesgo marcado.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PIPELINE Y RESULTADO FINAL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Implementación mediante Pipeline y ColumnTransformer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12648" y="2121408"/>
            <a:ext cx="1746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(predictoras)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468880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variables</a:t>
            </a:r>
            <a:endParaRPr lang="en-US" sz="10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numéricas + 2 categóricas)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42032" y="2427732"/>
            <a:ext cx="384048" cy="219456"/>
          </a:xfrm>
          <a:prstGeom prst="rightArrow">
            <a:avLst/>
          </a:prstGeom>
          <a:solidFill>
            <a:srgbClr val="9FB4C4"/>
          </a:solidFill>
          <a:ln/>
        </p:spPr>
      </p:sp>
      <p:sp>
        <p:nvSpPr>
          <p:cNvPr id="8" name="Shape 6"/>
          <p:cNvSpPr/>
          <p:nvPr/>
        </p:nvSpPr>
        <p:spPr>
          <a:xfrm>
            <a:off x="2999232" y="2011680"/>
            <a:ext cx="2331720" cy="1051560"/>
          </a:xfrm>
          <a:prstGeom prst="roundRect">
            <a:avLst>
              <a:gd name="adj" fmla="val 782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108960" y="2121408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FunctionTransformer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2468880"/>
            <a:ext cx="2112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corregir_inconsistencias()</a:t>
            </a:r>
            <a:endParaRPr lang="en-US" sz="10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NaN en valores inválidos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04104" y="2427732"/>
            <a:ext cx="384048" cy="219456"/>
          </a:xfrm>
          <a:prstGeom prst="rightArrow">
            <a:avLst/>
          </a:prstGeom>
          <a:solidFill>
            <a:srgbClr val="9FB4C4"/>
          </a:solidFill>
          <a:ln/>
        </p:spPr>
      </p:sp>
      <p:sp>
        <p:nvSpPr>
          <p:cNvPr id="12" name="Shape 10"/>
          <p:cNvSpPr/>
          <p:nvPr/>
        </p:nvSpPr>
        <p:spPr>
          <a:xfrm>
            <a:off x="5861304" y="2011680"/>
            <a:ext cx="3566160" cy="1051560"/>
          </a:xfrm>
          <a:prstGeom prst="roundRect">
            <a:avLst>
              <a:gd name="adj" fmla="val 782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971032" y="2121408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ColumnTransformer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2468880"/>
            <a:ext cx="3346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numérico + Pipeline categórico (en paralelo)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500616" y="2427732"/>
            <a:ext cx="384048" cy="219456"/>
          </a:xfrm>
          <a:prstGeom prst="rightArrow">
            <a:avLst/>
          </a:prstGeom>
          <a:solidFill>
            <a:srgbClr val="9FB4C4"/>
          </a:solidFill>
          <a:ln/>
        </p:spPr>
      </p:sp>
      <p:sp>
        <p:nvSpPr>
          <p:cNvPr id="16" name="Shape 14"/>
          <p:cNvSpPr/>
          <p:nvPr/>
        </p:nvSpPr>
        <p:spPr>
          <a:xfrm>
            <a:off x="9957816" y="2011680"/>
            <a:ext cx="1737360" cy="1051560"/>
          </a:xfrm>
          <a:prstGeom prst="roundRect">
            <a:avLst>
              <a:gd name="adj" fmla="val 7826"/>
            </a:avLst>
          </a:prstGeom>
          <a:solidFill>
            <a:srgbClr val="1FA187"/>
          </a:solidFill>
          <a:ln w="12700">
            <a:solidFill>
              <a:srgbClr val="1FA187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10067544" y="2121408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X_clean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067544" y="246888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Predictoras</a:t>
            </a:r>
            <a:endParaRPr lang="en-US" sz="10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429000"/>
            <a:ext cx="544068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35935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numérico  (7 variables)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WinsorizerIQR (factor 1,5) — outliers legítimos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43616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SimpleImputer (mediana) — faltantes e inválidos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745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RobustScaler — escalado robusto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429000"/>
            <a:ext cx="5486400" cy="2194560"/>
          </a:xfrm>
          <a:prstGeom prst="roundRect">
            <a:avLst>
              <a:gd name="adj" fmla="val 3750"/>
            </a:avLst>
          </a:prstGeom>
          <a:solidFill>
            <a:srgbClr val="EAF3F1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92240" y="35935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categórico  (2 variables)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SimpleImputer (moda) — valores faltantes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43616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OrdinalEncoder — 1 columna por variable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745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(conserva las 11 columnas originales)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76072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(y) </a:t>
            </a: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mantiene siempre separada de X, según lo exigido por la consigna, y solo se corrige su dominio fuera del Pipeline.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PIPELINE Y RESULTADO FINAL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final de la calidad de los datos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67512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original  vs.  dataset tratado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3337560" cy="457200"/>
          </a:xfrm>
          <a:prstGeom prst="rect">
            <a:avLst/>
          </a:prstGeom>
          <a:solidFill>
            <a:srgbClr val="1FA18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0" y="2286000"/>
            <a:ext cx="1371600" cy="457200"/>
          </a:xfrm>
          <a:prstGeom prst="rect">
            <a:avLst/>
          </a:prstGeom>
          <a:solidFill>
            <a:srgbClr val="1FA18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06240" y="2286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0" y="2286000"/>
            <a:ext cx="1371600" cy="457200"/>
          </a:xfrm>
          <a:prstGeom prst="rect">
            <a:avLst/>
          </a:prstGeom>
          <a:solidFill>
            <a:srgbClr val="1FA187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0" y="2286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2743200"/>
            <a:ext cx="333756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27432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registros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14800" y="2743200"/>
            <a:ext cx="137160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27432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5.100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0" y="2743200"/>
            <a:ext cx="137160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77840" y="27432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4.996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3200400"/>
            <a:ext cx="3337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2004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variables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14800" y="320040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06240" y="3200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0" y="320040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77840" y="3200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3657600"/>
            <a:ext cx="333756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6576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114800" y="3657600"/>
            <a:ext cx="137160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06240" y="36576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1.335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0" y="3657600"/>
            <a:ext cx="137160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36576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3337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41148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114800" y="411480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06240" y="41148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0" y="411480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77840" y="41148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77240" y="4572000"/>
            <a:ext cx="333756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4572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114800" y="4572000"/>
            <a:ext cx="137160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206240" y="4572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486400" y="4572000"/>
            <a:ext cx="1371600" cy="457200"/>
          </a:xfrm>
          <a:prstGeom prst="rect">
            <a:avLst/>
          </a:prstGeom>
          <a:solidFill>
            <a:srgbClr val="EAF3F1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577840" y="4572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777240" y="5029200"/>
            <a:ext cx="3337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50292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tratados (IQR)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114800" y="502920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206240" y="50292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486400" y="502920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77840" y="50292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A1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406640" y="1691640"/>
            <a:ext cx="4297680" cy="4434840"/>
          </a:xfrm>
          <a:prstGeom prst="roundRect">
            <a:avLst>
              <a:gd name="adj" fmla="val 1915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101600" dist="25400" dir="5400000" algn="bl" rotWithShape="0">
              <a:srgbClr val="1B2A3A">
                <a:alpha val="12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76809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final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680960" y="2350008"/>
            <a:ext cx="256032" cy="256032"/>
          </a:xfrm>
          <a:prstGeom prst="ellipse">
            <a:avLst/>
          </a:prstGeom>
          <a:solidFill>
            <a:srgbClr val="1FA187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68096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8028432" y="23134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valores nulos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7680960" y="2807208"/>
            <a:ext cx="256032" cy="256032"/>
          </a:xfrm>
          <a:prstGeom prst="ellipse">
            <a:avLst/>
          </a:prstGeom>
          <a:solidFill>
            <a:srgbClr val="1FA18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807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028432" y="27706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registros duplicados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680960" y="3264408"/>
            <a:ext cx="256032" cy="256032"/>
          </a:xfrm>
          <a:prstGeom prst="ellipse">
            <a:avLst/>
          </a:prstGeom>
          <a:solidFill>
            <a:srgbClr val="1FA18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680960" y="3264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8028432" y="32278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inconsistencias de dominio/formato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7680960" y="3721608"/>
            <a:ext cx="256032" cy="256032"/>
          </a:xfrm>
          <a:prstGeom prst="ellipse">
            <a:avLst/>
          </a:prstGeom>
          <a:solidFill>
            <a:srgbClr val="1FA18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3721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8028432" y="36850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dentro de [1.0, 10.0]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680960" y="4178808"/>
            <a:ext cx="256032" cy="256032"/>
          </a:xfrm>
          <a:prstGeom prst="ellipse">
            <a:avLst/>
          </a:prstGeom>
          <a:solidFill>
            <a:srgbClr val="1FA18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680960" y="4178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8028432" y="41422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mantienen las 11 variables originales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680960" y="4709160"/>
            <a:ext cx="37033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680960" y="4892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rendimiento_academico_limpio.csv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7680960" y="52395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4.996 registros × 11 variables</a:t>
            </a:r>
            <a:endParaRPr lang="en-US" sz="1150" dirty="0"/>
          </a:p>
        </p:txBody>
      </p:sp>
      <p:sp>
        <p:nvSpPr>
          <p:cNvPr id="69" name="Text 67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datos crudos a un dataset</a:t>
            </a:r>
            <a:endParaRPr lang="en-US" sz="32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confiable para el análisis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788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A1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de calidad</a:t>
            </a:r>
            <a:endParaRPr lang="en-US" sz="11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remanentes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0560" y="269748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2788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304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tratados</a:t>
            </a:r>
            <a:endParaRPr lang="en-US" sz="11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Winsorización IQR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69748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2788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FB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4.996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limpios</a:t>
            </a:r>
            <a:endParaRPr lang="en-US" sz="11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listos para modelar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34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reproducible en scikit-learn permite volver a ejecutar todo el tratamiento sobre el dataset original, garantizando consistencia para futuros modelos predictivos de rendimiento académico.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49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  ¿Preguntas?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F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Acosta · Bruno Aldana · Alanis Figueroa · Benjamín Jara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6519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0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130</TotalTime>
  <Words>1475</Words>
  <Application>Microsoft Office PowerPoint</Application>
  <PresentationFormat>Panorámica</PresentationFormat>
  <Paragraphs>270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Cambria</vt:lpstr>
      <vt:lpstr>Century Gothic</vt:lpstr>
      <vt:lpstr>Courier New</vt:lpstr>
      <vt:lpstr>Wingdings 3</vt:lpstr>
      <vt:lpstr>Ion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Asus</cp:lastModifiedBy>
  <cp:revision>5</cp:revision>
  <dcterms:created xsi:type="dcterms:W3CDTF">2026-09-02T22:35:45Z</dcterms:created>
  <dcterms:modified xsi:type="dcterms:W3CDTF">2026-09-04T03:13:24Z</dcterms:modified>
</cp:coreProperties>
</file>