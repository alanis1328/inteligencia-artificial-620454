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10.xml" ContentType="application/vnd.openxmlformats-officedocument.presentationml.notesSlide+xml"/>
  <Override PartName="/ppt/charts/chart5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6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1" r:id="rId15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516" y="-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Nulos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2A3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Attendance</c:v>
                </c:pt>
                <c:pt idx="1">
                  <c:v>Assignments
Completed</c:v>
                </c:pt>
                <c:pt idx="2">
                  <c:v>StudyHours</c:v>
                </c:pt>
                <c:pt idx="3">
                  <c:v>InternetHours</c:v>
                </c:pt>
                <c:pt idx="4">
                  <c:v>PreviousGPA</c:v>
                </c:pt>
                <c:pt idx="5">
                  <c:v>SleepHours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4.3899999999999997</c:v>
                </c:pt>
                <c:pt idx="1">
                  <c:v>4.24</c:v>
                </c:pt>
                <c:pt idx="2">
                  <c:v>3.55</c:v>
                </c:pt>
                <c:pt idx="3">
                  <c:v>3.45</c:v>
                </c:pt>
                <c:pt idx="4">
                  <c:v>3.18</c:v>
                </c:pt>
                <c:pt idx="5">
                  <c:v>2.39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893-4544-8C0D-CF8D9A3EBE7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B70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.5"/>
        </c:scaling>
        <c:delete val="0"/>
        <c:axPos val="l"/>
        <c:majorGridlines>
          <c:spPr>
            <a:ln w="9525" cap="flat">
              <a:solidFill>
                <a:srgbClr val="E2E9F0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B70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0" i="0" u="none" strike="noStrike">
                    <a:solidFill>
                      <a:srgbClr val="1B2A3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Attendance</c:v>
                </c:pt>
                <c:pt idx="1">
                  <c:v>StudyHours</c:v>
                </c:pt>
                <c:pt idx="2">
                  <c:v>PreviousGPA</c:v>
                </c:pt>
                <c:pt idx="3">
                  <c:v>AssignmentsCompleted</c:v>
                </c:pt>
                <c:pt idx="4">
                  <c:v>Age</c:v>
                </c:pt>
                <c:pt idx="5">
                  <c:v>InternetHours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0.59</c:v>
                </c:pt>
                <c:pt idx="1">
                  <c:v>0.49</c:v>
                </c:pt>
                <c:pt idx="2">
                  <c:v>0.1</c:v>
                </c:pt>
                <c:pt idx="3">
                  <c:v>0.06</c:v>
                </c:pt>
                <c:pt idx="4">
                  <c:v>-0.02</c:v>
                </c:pt>
                <c:pt idx="5">
                  <c:v>-0.1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3FA-4B21-B027-BEE8AB3D9E2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A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75"/>
          <c:min val="-0.3"/>
        </c:scaling>
        <c:delete val="0"/>
        <c:axPos val="b"/>
        <c:majorGridlines>
          <c:spPr>
            <a:ln w="9525" cap="flat">
              <a:solidFill>
                <a:srgbClr val="E2E9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B70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FinalGrade promedio</c:v>
                </c:pt>
              </c:strCache>
            </c:strRef>
          </c:tx>
          <c:spPr>
            <a:solidFill>
              <a:srgbClr val="1FA187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B2A3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Con beca</c:v>
                </c:pt>
                <c:pt idx="1">
                  <c:v>Sin beca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4.37</c:v>
                </c:pt>
                <c:pt idx="1">
                  <c:v>4.08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1B2-4318-8B52-36829EBC30E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A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.5999999999999996"/>
          <c:min val="3.6"/>
        </c:scaling>
        <c:delete val="0"/>
        <c:axPos val="l"/>
        <c:majorGridlines>
          <c:spPr>
            <a:ln w="9525" cap="flat">
              <a:solidFill>
                <a:srgbClr val="E2E9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B70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FinalGrade promedio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0" i="0" u="none" strike="noStrike">
                    <a:solidFill>
                      <a:srgbClr val="1B2A3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Administración</c:v>
                </c:pt>
                <c:pt idx="1">
                  <c:v>Ing. Informática</c:v>
                </c:pt>
                <c:pt idx="2">
                  <c:v>Ing. Industrial</c:v>
                </c:pt>
                <c:pt idx="3">
                  <c:v>Ing. Civil</c:v>
                </c:pt>
                <c:pt idx="4">
                  <c:v>Contador Auditor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4.2320000000000002</c:v>
                </c:pt>
                <c:pt idx="1">
                  <c:v>4.2309999999999999</c:v>
                </c:pt>
                <c:pt idx="2">
                  <c:v>4.2030000000000003</c:v>
                </c:pt>
                <c:pt idx="3">
                  <c:v>4.1100000000000003</c:v>
                </c:pt>
                <c:pt idx="4">
                  <c:v>4.0460000000000003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90E-45F1-A3E2-ED5F2D22158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2A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.4000000000000004"/>
          <c:min val="3.8"/>
        </c:scaling>
        <c:delete val="0"/>
        <c:axPos val="b"/>
        <c:majorGridlines>
          <c:spPr>
            <a:ln w="9525" cap="flat">
              <a:solidFill>
                <a:srgbClr val="E2E9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70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FinalGrade promedio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2A3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&lt;60%</c:v>
                </c:pt>
                <c:pt idx="1">
                  <c:v>60–75%</c:v>
                </c:pt>
                <c:pt idx="2">
                  <c:v>75–85%</c:v>
                </c:pt>
                <c:pt idx="3">
                  <c:v>&gt;85%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2.6</c:v>
                </c:pt>
                <c:pt idx="1">
                  <c:v>3.25</c:v>
                </c:pt>
                <c:pt idx="2">
                  <c:v>3.92</c:v>
                </c:pt>
                <c:pt idx="3">
                  <c:v>4.6900000000000004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407-47B8-863F-F7869B134D4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A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.5"/>
          <c:min val="0"/>
        </c:scaling>
        <c:delete val="0"/>
        <c:axPos val="l"/>
        <c:majorGridlines>
          <c:spPr>
            <a:ln w="9525" cap="flat">
              <a:solidFill>
                <a:srgbClr val="E2E9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70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76759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055488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495578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851359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9/3/2026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280709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9/3/2026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59346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9/3/2026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034550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9/3/2026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66135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9/3/2026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856212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257513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767409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153713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s-MX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2631065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366845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9/3/2026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485366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9/3/2026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9614434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4304630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4231430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1737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244961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Relationship Id="rId4" Type="http://schemas.openxmlformats.org/officeDocument/2006/relationships/chart" Target="../charts/char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065A82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206240"/>
            <a:ext cx="4206240" cy="4206240"/>
          </a:xfrm>
          <a:prstGeom prst="ellipse">
            <a:avLst/>
          </a:prstGeom>
          <a:solidFill>
            <a:srgbClr val="1C7293">
              <a:alpha val="2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1  ·  CALIDAD Y PREPARACIÓN DE DATOS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96596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Diagnóstico, EDA y Tratamiento del</a:t>
            </a:r>
            <a:endParaRPr lang="en-US" sz="40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Rendimiento Académico Estudiantil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611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AF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rendimiento_academico_evaluacion.csv  →  rendimiento_academico_limpio.csv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617720"/>
            <a:ext cx="2377440" cy="777240"/>
          </a:xfrm>
          <a:prstGeom prst="roundRect">
            <a:avLst>
              <a:gd name="adj" fmla="val 941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46177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Renato Acosta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429000" y="4617720"/>
            <a:ext cx="2377440" cy="777240"/>
          </a:xfrm>
          <a:prstGeom prst="roundRect">
            <a:avLst>
              <a:gd name="adj" fmla="val 941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29000" y="46177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Bruno Aldana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035040" y="4617720"/>
            <a:ext cx="2377440" cy="777240"/>
          </a:xfrm>
          <a:prstGeom prst="roundRect">
            <a:avLst>
              <a:gd name="adj" fmla="val 941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035040" y="46177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Alanis Figueroa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641080" y="4617720"/>
            <a:ext cx="2377440" cy="777240"/>
          </a:xfrm>
          <a:prstGeom prst="roundRect">
            <a:avLst>
              <a:gd name="adj" fmla="val 941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41080" y="46177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Benjamín Jara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6080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Septiembre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DIAGNÓSTICO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Contexto y objetivo del trabajo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5394960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12700">
            <a:solidFill>
              <a:srgbClr val="E2E9F0"/>
            </a:solidFill>
            <a:prstDash val="solid"/>
          </a:ln>
          <a:effectLst>
            <a:outerShdw blurRad="101600" dist="25400" dir="5400000" algn="bl" rotWithShape="0">
              <a:srgbClr val="1B2A3A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920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3172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institución de educación superior busca analizar el rendimiento académico de sus estudiantes a partir de un dataset con variables demográficas, hábitos de estudio, antecedentes académicos y resultado final.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65760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analizarlo, era necesario determinar si el dataset presentaba problemas de calidad que pudieran afectar las conclusiones.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7548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fuente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0292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rendimiento_academico_evaluacion.csv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72200" y="1691640"/>
            <a:ext cx="5532120" cy="4434840"/>
          </a:xfrm>
          <a:prstGeom prst="roundRect">
            <a:avLst>
              <a:gd name="adj" fmla="val 1856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  <a:effectLst>
            <a:outerShdw blurRad="101600" dist="25400" dir="5400000" algn="bl" rotWithShape="0">
              <a:srgbClr val="1B2A3A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92240" y="19202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del proceso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92240" y="2423160"/>
            <a:ext cx="201168" cy="20116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92240" y="24231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0" y="2350008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Diagnosticar la calidad de los datos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92240" y="2843784"/>
            <a:ext cx="201168" cy="20116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92240" y="28437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0" y="277063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y justificar los problemas presentes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92240" y="3264408"/>
            <a:ext cx="201168" cy="20116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92240" y="32644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0" y="3191256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Realizar un análisis exploratorio (EDA)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92240" y="3685032"/>
            <a:ext cx="201168" cy="20116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92240" y="36850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0" y="361188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Responder preguntas de investigación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92240" y="4105656"/>
            <a:ext cx="201168" cy="20116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492240" y="41056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6858000" y="4032504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e implementar estrategias de tratamiento con Pipeline / ColumnTransformer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492240" y="4526280"/>
            <a:ext cx="201168" cy="20116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492240" y="45262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6858000" y="4453128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Exportar un dataset final limpio en CSV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3566160" y="65196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1 · Calidad y Preparación de Datos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DIAGNÓSTICO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Caracterización del dataset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267004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9F0"/>
            </a:solidFill>
            <a:prstDash val="solid"/>
          </a:ln>
          <a:effectLst>
            <a:outerShdw blurRad="101600" dist="25400" dir="5400000" algn="bl" rotWithShape="0">
              <a:srgbClr val="1B2A3A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02920" y="1783080"/>
            <a:ext cx="2670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5.100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450592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55848" y="1691640"/>
            <a:ext cx="267004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9F0"/>
            </a:solidFill>
            <a:prstDash val="solid"/>
          </a:ln>
          <a:effectLst>
            <a:outerShdw blurRad="101600" dist="25400" dir="5400000" algn="bl" rotWithShape="0">
              <a:srgbClr val="1B2A3A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355848" y="1783080"/>
            <a:ext cx="2670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3355848" y="2450592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totales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08776" y="1691640"/>
            <a:ext cx="267004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9F0"/>
            </a:solidFill>
            <a:prstDash val="solid"/>
          </a:ln>
          <a:effectLst>
            <a:outerShdw blurRad="101600" dist="25400" dir="5400000" algn="bl" rotWithShape="0">
              <a:srgbClr val="1B2A3A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208776" y="1783080"/>
            <a:ext cx="2670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6208776" y="2450592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Numéricas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061704" y="1691640"/>
            <a:ext cx="267004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9F0"/>
            </a:solidFill>
            <a:prstDash val="solid"/>
          </a:ln>
          <a:effectLst>
            <a:outerShdw blurRad="101600" dist="25400" dir="5400000" algn="bl" rotWithShape="0">
              <a:srgbClr val="1B2A3A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061704" y="1783080"/>
            <a:ext cx="2670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FA1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9061704" y="2450592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Categóricas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3291840"/>
            <a:ext cx="5394960" cy="283464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12700">
            <a:solidFill>
              <a:srgbClr val="E2E9F0"/>
            </a:solidFill>
            <a:prstDash val="solid"/>
          </a:ln>
          <a:effectLst>
            <a:outerShdw blurRad="101600" dist="25400" dir="5400000" algn="bl" rotWithShape="0">
              <a:srgbClr val="1B2A3A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22960" y="34747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Identificador y variable objetivo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384048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StudentID  </a:t>
            </a: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identificador único del estudiante
</a:t>
            </a: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FinalGrade  </a:t>
            </a: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variable objetivo (resultado académico, escala 1.0–10.0)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49377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valores nulos en ninguna de las dos variables.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72200" y="3291840"/>
            <a:ext cx="5532120" cy="283464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12700">
            <a:solidFill>
              <a:srgbClr val="E2E9F0"/>
            </a:solidFill>
            <a:prstDash val="solid"/>
          </a:ln>
          <a:effectLst>
            <a:outerShdw blurRad="101600" dist="25400" dir="5400000" algn="bl" rotWithShape="0">
              <a:srgbClr val="1B2A3A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492240" y="34747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numéricas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3794760"/>
            <a:ext cx="25603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StudyHours, Attendance, PreviousGPA, AssignmentsCompleted, SleepHours, InternetHours, FinalGrade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281160" y="3520440"/>
            <a:ext cx="0" cy="2377440"/>
          </a:xfrm>
          <a:prstGeom prst="line">
            <a:avLst/>
          </a:prstGeom>
          <a:noFill/>
          <a:ln w="15875">
            <a:solidFill>
              <a:srgbClr val="E2E9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509760" y="3474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categóricas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9509760" y="379476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Scholarship (beca)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(programa académico)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3566160" y="65196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1 · Calidad y Preparación de Datos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DIAGNÓSTICO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Problemas encontrados: faltantes y duplicados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6492240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12700">
            <a:solidFill>
              <a:srgbClr val="E2E9F0"/>
            </a:solidFill>
            <a:prstDash val="solid"/>
          </a:ln>
          <a:effectLst>
            <a:outerShdw blurRad="101600" dist="25400" dir="5400000" algn="bl" rotWithShape="0">
              <a:srgbClr val="1B2A3A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8745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faltantes por variable (Top 6)</a:t>
            </a:r>
            <a:endParaRPr lang="en-US" sz="14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777240" y="2240280"/>
          <a:ext cx="594360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777240" y="4846320"/>
            <a:ext cx="5943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</a:t>
            </a: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1.335 valores faltantes en 9 variables (ninguna supera el 5%).
</a:t>
            </a: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Estrategia: </a:t>
            </a: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imputación por mediana dentro del Pipeline (robusta ante outliers).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1691640"/>
            <a:ext cx="4526280" cy="4434840"/>
          </a:xfrm>
          <a:prstGeom prst="roundRect">
            <a:avLst>
              <a:gd name="adj" fmla="val 1856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  <a:effectLst>
            <a:outerShdw blurRad="101600" dist="25400" dir="5400000" algn="bl" rotWithShape="0">
              <a:srgbClr val="1B2A3A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452360" y="18745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duplicados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452360" y="233172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5800" dirty="0"/>
          </a:p>
        </p:txBody>
      </p:sp>
      <p:sp>
        <p:nvSpPr>
          <p:cNvPr id="11" name="Text 8"/>
          <p:cNvSpPr txBox="1"/>
          <p:nvPr/>
        </p:nvSpPr>
        <p:spPr>
          <a:xfrm>
            <a:off x="7452360" y="32461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F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duplicados exactos  ·  1,96% del dataset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452360" y="3886200"/>
            <a:ext cx="3977640" cy="0"/>
          </a:xfrm>
          <a:prstGeom prst="line">
            <a:avLst/>
          </a:prstGeom>
          <a:noFill/>
          <a:ln w="12700">
            <a:solidFill>
              <a:srgbClr val="2A4A6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452360" y="406908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las variables —incluido StudentID— se repiten de forma idéntica: corresponde a duplicación en la carga de datos, no a nuevas observaciones.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7452360" y="525780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FA1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Decisión: eliminar duplicados, conservando la primera ocurrencia (drop_duplicates).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3566160" y="65196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1 · Calidad y Preparación de Datos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INCONSISTENCIAS Y OUTLIERS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Inconsistencias de formato y de dominio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1828800" cy="566928"/>
          </a:xfrm>
          <a:prstGeom prst="rect">
            <a:avLst/>
          </a:prstGeom>
          <a:solidFill>
            <a:srgbClr val="0B2545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" y="1691640"/>
            <a:ext cx="1609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331720" y="1691640"/>
            <a:ext cx="4663440" cy="566928"/>
          </a:xfrm>
          <a:prstGeom prst="rect">
            <a:avLst/>
          </a:prstGeom>
          <a:solidFill>
            <a:srgbClr val="0B2545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441448" y="1691640"/>
            <a:ext cx="4443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detectado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995160" y="1691640"/>
            <a:ext cx="777240" cy="566928"/>
          </a:xfrm>
          <a:prstGeom prst="rect">
            <a:avLst/>
          </a:prstGeom>
          <a:solidFill>
            <a:srgbClr val="0B2545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04888" y="1691640"/>
            <a:ext cx="557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N°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0" y="1691640"/>
            <a:ext cx="3931920" cy="566928"/>
          </a:xfrm>
          <a:prstGeom prst="rect">
            <a:avLst/>
          </a:prstGeom>
          <a:solidFill>
            <a:srgbClr val="0B2545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882128" y="1691640"/>
            <a:ext cx="3712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258568"/>
            <a:ext cx="1828800" cy="566928"/>
          </a:xfrm>
          <a:prstGeom prst="rect">
            <a:avLst/>
          </a:prstGeom>
          <a:solidFill>
            <a:srgbClr val="EAF1F7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2648" y="2258568"/>
            <a:ext cx="1609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Scholarship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331720" y="2258568"/>
            <a:ext cx="4663440" cy="566928"/>
          </a:xfrm>
          <a:prstGeom prst="rect">
            <a:avLst/>
          </a:prstGeom>
          <a:solidFill>
            <a:srgbClr val="EAF1F7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441448" y="2258568"/>
            <a:ext cx="4443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Variaciones de escritura ("si", " NO", "SÍ")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995160" y="2258568"/>
            <a:ext cx="777240" cy="566928"/>
          </a:xfrm>
          <a:prstGeom prst="rect">
            <a:avLst/>
          </a:prstGeom>
          <a:solidFill>
            <a:srgbClr val="EAF1F7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04888" y="2258568"/>
            <a:ext cx="557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772400" y="2258568"/>
            <a:ext cx="3931920" cy="566928"/>
          </a:xfrm>
          <a:prstGeom prst="rect">
            <a:avLst/>
          </a:prstGeom>
          <a:solidFill>
            <a:srgbClr val="EAF1F7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882128" y="2258568"/>
            <a:ext cx="3712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Normalizar texto → "Sí" / "No"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02920" y="2825496"/>
            <a:ext cx="18288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12648" y="2825496"/>
            <a:ext cx="1609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331720" y="2825496"/>
            <a:ext cx="46634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441448" y="2825496"/>
            <a:ext cx="4443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tipográficos ("Administracion", mayúsculas)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995160" y="2825496"/>
            <a:ext cx="7772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104888" y="2825496"/>
            <a:ext cx="557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772400" y="2825496"/>
            <a:ext cx="39319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882128" y="2825496"/>
            <a:ext cx="3712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Mapear a 5 programas canónicos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02920" y="3392424"/>
            <a:ext cx="1828800" cy="566928"/>
          </a:xfrm>
          <a:prstGeom prst="rect">
            <a:avLst/>
          </a:prstGeom>
          <a:solidFill>
            <a:srgbClr val="EAF1F7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12648" y="3392424"/>
            <a:ext cx="1609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2331720" y="3392424"/>
            <a:ext cx="4663440" cy="566928"/>
          </a:xfrm>
          <a:prstGeom prst="rect">
            <a:avLst/>
          </a:prstGeom>
          <a:solidFill>
            <a:srgbClr val="EAF1F7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441448" y="3392424"/>
            <a:ext cx="4443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fuera de [0, 100] (−19,96% a 122,97%)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995160" y="3392424"/>
            <a:ext cx="777240" cy="566928"/>
          </a:xfrm>
          <a:prstGeom prst="rect">
            <a:avLst/>
          </a:prstGeom>
          <a:solidFill>
            <a:srgbClr val="EAF1F7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104888" y="3392424"/>
            <a:ext cx="557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7772400" y="3392424"/>
            <a:ext cx="3931920" cy="566928"/>
          </a:xfrm>
          <a:prstGeom prst="rect">
            <a:avLst/>
          </a:prstGeom>
          <a:solidFill>
            <a:srgbClr val="EAF1F7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882128" y="3392424"/>
            <a:ext cx="3712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NaN + imputación por mediana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02920" y="3959352"/>
            <a:ext cx="18288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12648" y="3959352"/>
            <a:ext cx="1609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SleepHours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2331720" y="3959352"/>
            <a:ext cx="46634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2441448" y="3959352"/>
            <a:ext cx="4443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 negativas (hasta −7,71 h)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995160" y="3959352"/>
            <a:ext cx="7772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104888" y="3959352"/>
            <a:ext cx="557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7772400" y="3959352"/>
            <a:ext cx="39319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882128" y="3959352"/>
            <a:ext cx="3712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NaN + imputación por mediana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502920" y="4526280"/>
            <a:ext cx="1828800" cy="566928"/>
          </a:xfrm>
          <a:prstGeom prst="rect">
            <a:avLst/>
          </a:prstGeom>
          <a:solidFill>
            <a:srgbClr val="EAF1F7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12648" y="4526280"/>
            <a:ext cx="1609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InternetHours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2331720" y="4526280"/>
            <a:ext cx="4663440" cy="566928"/>
          </a:xfrm>
          <a:prstGeom prst="rect">
            <a:avLst/>
          </a:prstGeom>
          <a:solidFill>
            <a:srgbClr val="EAF1F7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2441448" y="4526280"/>
            <a:ext cx="4443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 ≥ 24 h/día (hasta 69,5 h)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6995160" y="4526280"/>
            <a:ext cx="777240" cy="566928"/>
          </a:xfrm>
          <a:prstGeom prst="rect">
            <a:avLst/>
          </a:prstGeom>
          <a:solidFill>
            <a:srgbClr val="EAF1F7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7104888" y="4526280"/>
            <a:ext cx="557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7772400" y="4526280"/>
            <a:ext cx="3931920" cy="566928"/>
          </a:xfrm>
          <a:prstGeom prst="rect">
            <a:avLst/>
          </a:prstGeom>
          <a:solidFill>
            <a:srgbClr val="EAF1F7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7882128" y="4526280"/>
            <a:ext cx="3712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NaN + imputación por mediana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502920" y="5093208"/>
            <a:ext cx="18288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612648" y="5093208"/>
            <a:ext cx="1609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FinalGrade (objetivo)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2331720" y="5093208"/>
            <a:ext cx="46634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2441448" y="5093208"/>
            <a:ext cx="4443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 fuera de escala oficial [1.0, 10.0]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6995160" y="5093208"/>
            <a:ext cx="7772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7104888" y="5093208"/>
            <a:ext cx="557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7772400" y="5093208"/>
            <a:ext cx="39319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7882128" y="5093208"/>
            <a:ext cx="3712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filas (evita etiquetas falsas)</a:t>
            </a:r>
            <a:endParaRPr lang="en-US" sz="1150" dirty="0"/>
          </a:p>
        </p:txBody>
      </p:sp>
      <p:sp>
        <p:nvSpPr>
          <p:cNvPr id="60" name="Text 58"/>
          <p:cNvSpPr txBox="1"/>
          <p:nvPr/>
        </p:nvSpPr>
        <p:spPr>
          <a:xfrm>
            <a:off x="502920" y="5843016"/>
            <a:ext cx="11201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5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133 </a:t>
            </a: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inconsistencias detectadas en total (dominio + formato). Se revisaron todas las variables numéricas; Age, PreviousGPA, StudyHours y AssignmentsCompleted no presentaron inconsistencias de dominio.</a:t>
            </a:r>
            <a:endParaRPr lang="en-US" sz="1500" dirty="0"/>
          </a:p>
        </p:txBody>
      </p:sp>
      <p:sp>
        <p:nvSpPr>
          <p:cNvPr id="62" name="Text 60"/>
          <p:cNvSpPr txBox="1"/>
          <p:nvPr/>
        </p:nvSpPr>
        <p:spPr>
          <a:xfrm>
            <a:off x="3566160" y="65196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1 · Calidad y Preparación de Datos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INCONSISTENCIAS Y OUTLIERS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Valores atípicos: extremo legítimo vs. inválido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5440680" cy="4434840"/>
          </a:xfrm>
          <a:prstGeom prst="roundRect">
            <a:avLst>
              <a:gd name="adj" fmla="val 1856"/>
            </a:avLst>
          </a:prstGeom>
          <a:solidFill>
            <a:srgbClr val="FBEEEE"/>
          </a:solidFill>
          <a:ln w="12700">
            <a:solidFill>
              <a:srgbClr val="F0C9C9"/>
            </a:solidFill>
            <a:prstDash val="solid"/>
          </a:ln>
          <a:effectLst>
            <a:outerShdw blurRad="101600" dist="25400" dir="5400000" algn="bl" rotWithShape="0">
              <a:srgbClr val="1B2A3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74520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D6455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8745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INVÁLIDO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7744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7A3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de captura / de sistema — viola el dominio lógico o la escala oficial de la variable.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06324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A3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Attendance:  </a:t>
            </a: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registros fuera de [0, 100]%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44728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A3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SleepHours:  </a:t>
            </a: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registros negativos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831336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A3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InternetHours:  </a:t>
            </a: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registros ≥ 24 h/día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215384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A3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FinalGrade (objetivo):  </a:t>
            </a: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registros fuera de [1.0, 10.0]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736592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7A3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Tratamiento: reemplazo por NaN + mediana (predictoras); eliminación de filas en FinalGrade.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1691640"/>
            <a:ext cx="5486400" cy="4434840"/>
          </a:xfrm>
          <a:prstGeom prst="roundRect">
            <a:avLst>
              <a:gd name="adj" fmla="val 1856"/>
            </a:avLst>
          </a:prstGeom>
          <a:solidFill>
            <a:srgbClr val="EAF7F2"/>
          </a:solidFill>
          <a:ln w="12700">
            <a:solidFill>
              <a:srgbClr val="C7E8DA"/>
            </a:solidFill>
            <a:prstDash val="solid"/>
          </a:ln>
          <a:effectLst>
            <a:outerShdw blurRad="101600" dist="25400" dir="5400000" algn="bl" rotWithShape="0">
              <a:srgbClr val="1B2A3A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92240" y="1874520"/>
            <a:ext cx="2743200" cy="384048"/>
          </a:xfrm>
          <a:prstGeom prst="roundRect">
            <a:avLst>
              <a:gd name="adj" fmla="val 14286"/>
            </a:avLst>
          </a:prstGeom>
          <a:solidFill>
            <a:srgbClr val="1FA18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92240" y="18745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EXTREMO LEGÍTIMO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23774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1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Cae fuera del rango IQR, pero dentro del dominio lógico: representa un perfil real de estudiante.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30632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Age:  </a:t>
            </a: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 registros (34–80 años): reingreso a estudios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35661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StudyHours:  </a:t>
            </a: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registros (26–98,3 h/semana): alta dedicación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40690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PreviousGPA / AssignmentsCompleted:  </a:t>
            </a: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de la escala válida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470916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Tratamiento: Winsorización IQR (factor 1,5) dentro del Pipeline, sobre las 7 variables numéricas predictoras — no se eliminan registros reales.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3566160" y="65196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1 · Calidad y Preparación de Datos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INCONSISTENCIAS Y OUTLIERS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Resumen de decisiones de tratamiento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2834640" cy="489204"/>
          </a:xfrm>
          <a:prstGeom prst="rect">
            <a:avLst/>
          </a:prstGeom>
          <a:solidFill>
            <a:srgbClr val="1C7293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" y="1691640"/>
            <a:ext cx="2633472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337560" y="1691640"/>
            <a:ext cx="3520440" cy="489204"/>
          </a:xfrm>
          <a:prstGeom prst="rect">
            <a:avLst/>
          </a:prstGeom>
          <a:solidFill>
            <a:srgbClr val="1C7293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47288" y="1691640"/>
            <a:ext cx="3319272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0" y="1691640"/>
            <a:ext cx="4846320" cy="489204"/>
          </a:xfrm>
          <a:prstGeom prst="rect">
            <a:avLst/>
          </a:prstGeom>
          <a:solidFill>
            <a:srgbClr val="1C7293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967728" y="1691640"/>
            <a:ext cx="4645152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Justificación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2180844"/>
            <a:ext cx="2834640" cy="489204"/>
          </a:xfrm>
          <a:prstGeom prst="rect">
            <a:avLst/>
          </a:prstGeom>
          <a:solidFill>
            <a:srgbClr val="EAF3F1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2648" y="2180844"/>
            <a:ext cx="2633472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Duplicados exactos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37560" y="2180844"/>
            <a:ext cx="3520440" cy="489204"/>
          </a:xfrm>
          <a:prstGeom prst="rect">
            <a:avLst/>
          </a:prstGeom>
          <a:solidFill>
            <a:srgbClr val="EAF3F1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47288" y="2180844"/>
            <a:ext cx="3319272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(conservar 1ª ocurrencia)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0" y="2180844"/>
            <a:ext cx="4846320" cy="489204"/>
          </a:xfrm>
          <a:prstGeom prst="rect">
            <a:avLst/>
          </a:prstGeom>
          <a:solidFill>
            <a:srgbClr val="EAF3F1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967728" y="2180844"/>
            <a:ext cx="4645152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Corresponde a carga duplicada, no a nuevas observaciones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2670048"/>
            <a:ext cx="2834640" cy="489204"/>
          </a:xfrm>
          <a:prstGeom prst="rect">
            <a:avLst/>
          </a:prstGeom>
          <a:solidFill>
            <a:srgbClr val="FFFFFF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12648" y="2670048"/>
            <a:ext cx="2633472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Faltantes (&lt; 5%)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337560" y="2670048"/>
            <a:ext cx="3520440" cy="489204"/>
          </a:xfrm>
          <a:prstGeom prst="rect">
            <a:avLst/>
          </a:prstGeom>
          <a:solidFill>
            <a:srgbClr val="FFFFFF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447288" y="2670048"/>
            <a:ext cx="3319272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Imputación por mediana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58000" y="2670048"/>
            <a:ext cx="4846320" cy="489204"/>
          </a:xfrm>
          <a:prstGeom prst="rect">
            <a:avLst/>
          </a:prstGeom>
          <a:solidFill>
            <a:srgbClr val="FFFFFF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967728" y="2670048"/>
            <a:ext cx="4645152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Robusta frente a outliers; no distorsiona la distribución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3159252"/>
            <a:ext cx="2834640" cy="489204"/>
          </a:xfrm>
          <a:prstGeom prst="rect">
            <a:avLst/>
          </a:prstGeom>
          <a:solidFill>
            <a:srgbClr val="EAF3F1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12648" y="3159252"/>
            <a:ext cx="2633472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categórico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37560" y="3159252"/>
            <a:ext cx="3520440" cy="489204"/>
          </a:xfrm>
          <a:prstGeom prst="rect">
            <a:avLst/>
          </a:prstGeom>
          <a:solidFill>
            <a:srgbClr val="EAF3F1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47288" y="3159252"/>
            <a:ext cx="3319272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Normalizar a categorías canónicas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858000" y="3159252"/>
            <a:ext cx="4846320" cy="489204"/>
          </a:xfrm>
          <a:prstGeom prst="rect">
            <a:avLst/>
          </a:prstGeom>
          <a:solidFill>
            <a:srgbClr val="EAF3F1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967728" y="3159252"/>
            <a:ext cx="4645152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Unifica variantes de texto sin perder información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" y="3648456"/>
            <a:ext cx="2834640" cy="489204"/>
          </a:xfrm>
          <a:prstGeom prst="rect">
            <a:avLst/>
          </a:prstGeom>
          <a:solidFill>
            <a:srgbClr val="FFFFFF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12648" y="3648456"/>
            <a:ext cx="2633472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 inválido (predictoras)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337560" y="3648456"/>
            <a:ext cx="3520440" cy="489204"/>
          </a:xfrm>
          <a:prstGeom prst="rect">
            <a:avLst/>
          </a:prstGeom>
          <a:solidFill>
            <a:srgbClr val="FFFFFF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447288" y="3648456"/>
            <a:ext cx="3319272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NaN + imputación por mediana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858000" y="3648456"/>
            <a:ext cx="4846320" cy="489204"/>
          </a:xfrm>
          <a:prstGeom prst="rect">
            <a:avLst/>
          </a:prstGeom>
          <a:solidFill>
            <a:srgbClr val="FFFFFF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967728" y="3648456"/>
            <a:ext cx="4645152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tratamiento robusto que los faltantes originales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02920" y="4137660"/>
            <a:ext cx="2834640" cy="489204"/>
          </a:xfrm>
          <a:prstGeom prst="rect">
            <a:avLst/>
          </a:prstGeom>
          <a:solidFill>
            <a:srgbClr val="EAF3F1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12648" y="4137660"/>
            <a:ext cx="2633472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 inválido (FinalGrade)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337560" y="4137660"/>
            <a:ext cx="3520440" cy="489204"/>
          </a:xfrm>
          <a:prstGeom prst="rect">
            <a:avLst/>
          </a:prstGeom>
          <a:solidFill>
            <a:srgbClr val="EAF3F1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447288" y="4137660"/>
            <a:ext cx="3319272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filas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858000" y="4137660"/>
            <a:ext cx="4846320" cy="489204"/>
          </a:xfrm>
          <a:prstGeom prst="rect">
            <a:avLst/>
          </a:prstGeom>
          <a:solidFill>
            <a:srgbClr val="EAF3F1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967728" y="4137660"/>
            <a:ext cx="4645152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Imputar el objetivo introduciría etiquetas falsas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02920" y="4626864"/>
            <a:ext cx="2834640" cy="489204"/>
          </a:xfrm>
          <a:prstGeom prst="rect">
            <a:avLst/>
          </a:prstGeom>
          <a:solidFill>
            <a:srgbClr val="FFFFFF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12648" y="4626864"/>
            <a:ext cx="2633472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legítimos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337560" y="4626864"/>
            <a:ext cx="3520440" cy="489204"/>
          </a:xfrm>
          <a:prstGeom prst="rect">
            <a:avLst/>
          </a:prstGeom>
          <a:solidFill>
            <a:srgbClr val="FFFFFF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3447288" y="4626864"/>
            <a:ext cx="3319272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Winsorización IQR (factor 1,5)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858000" y="4626864"/>
            <a:ext cx="4846320" cy="489204"/>
          </a:xfrm>
          <a:prstGeom prst="rect">
            <a:avLst/>
          </a:prstGeom>
          <a:solidFill>
            <a:srgbClr val="FFFFFF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967728" y="4626864"/>
            <a:ext cx="4645152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Neutraliza el efecto extremo sin eliminar casos reales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02920" y="5116068"/>
            <a:ext cx="2834640" cy="489204"/>
          </a:xfrm>
          <a:prstGeom prst="rect">
            <a:avLst/>
          </a:prstGeom>
          <a:solidFill>
            <a:srgbClr val="EAF3F1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12648" y="5116068"/>
            <a:ext cx="2633472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Escalado / codificación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337560" y="5116068"/>
            <a:ext cx="3520440" cy="489204"/>
          </a:xfrm>
          <a:prstGeom prst="rect">
            <a:avLst/>
          </a:prstGeom>
          <a:solidFill>
            <a:srgbClr val="EAF3F1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3447288" y="5116068"/>
            <a:ext cx="3319272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RobustScaler + OrdinalEncoder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858000" y="5116068"/>
            <a:ext cx="4846320" cy="489204"/>
          </a:xfrm>
          <a:prstGeom prst="rect">
            <a:avLst/>
          </a:prstGeom>
          <a:solidFill>
            <a:srgbClr val="EAF3F1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6967728" y="5116068"/>
            <a:ext cx="4645152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Robusto a outliers residuales; conserva 11 columnas</a:t>
            </a:r>
            <a:endParaRPr lang="en-US" sz="1100" dirty="0"/>
          </a:p>
        </p:txBody>
      </p:sp>
      <p:sp>
        <p:nvSpPr>
          <p:cNvPr id="52" name="Text 50"/>
          <p:cNvSpPr txBox="1"/>
          <p:nvPr/>
        </p:nvSpPr>
        <p:spPr>
          <a:xfrm>
            <a:off x="502920" y="5769864"/>
            <a:ext cx="11201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estas estrategias se implementan de forma reproducible mediante Pipeline y ColumnTransformer de scikit-learn (sección 4).</a:t>
            </a:r>
            <a:endParaRPr lang="en-US" sz="1200" dirty="0"/>
          </a:p>
        </p:txBody>
      </p:sp>
      <p:sp>
        <p:nvSpPr>
          <p:cNvPr id="54" name="Text 52"/>
          <p:cNvSpPr txBox="1"/>
          <p:nvPr/>
        </p:nvSpPr>
        <p:spPr>
          <a:xfrm>
            <a:off x="3566160" y="65196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1 · Calidad y Preparación de Datos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ANÁLISIS EXPLORATORIO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EDA: distribución de FinalGrade y correlaciones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3657600" cy="4434840"/>
          </a:xfrm>
          <a:prstGeom prst="roundRect">
            <a:avLst>
              <a:gd name="adj" fmla="val 2250"/>
            </a:avLst>
          </a:prstGeom>
          <a:solidFill>
            <a:srgbClr val="FFFFFF"/>
          </a:solidFill>
          <a:ln w="12700">
            <a:solidFill>
              <a:srgbClr val="E2E9F0"/>
            </a:solidFill>
            <a:prstDash val="solid"/>
          </a:ln>
          <a:effectLst>
            <a:outerShdw blurRad="101600" dist="25400" dir="5400000" algn="bl" rotWithShape="0">
              <a:srgbClr val="1B2A3A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8745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de FinalGrade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5146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4.17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2461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6118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4.23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160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66344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oficial [1.0, 10.0]. Distribución razonablemente simétrica (media ≈ mediana), con rendimiento promedio cercano al umbral de aprobación (4.0).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434840" y="1691640"/>
            <a:ext cx="7269480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12700">
            <a:solidFill>
              <a:srgbClr val="E2E9F0"/>
            </a:solidFill>
            <a:prstDash val="solid"/>
          </a:ln>
          <a:effectLst>
            <a:outerShdw blurRad="101600" dist="25400" dir="5400000" algn="bl" rotWithShape="0">
              <a:srgbClr val="1B2A3A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709160" y="187452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Correlación de Pearson con FinalGrade</a:t>
            </a:r>
            <a:endParaRPr lang="en-US" sz="1400" dirty="0"/>
          </a:p>
        </p:txBody>
      </p:sp>
      <p:graphicFrame>
        <p:nvGraphicFramePr>
          <p:cNvPr id="13" name="Chart 0"/>
          <p:cNvGraphicFramePr/>
          <p:nvPr/>
        </p:nvGraphicFramePr>
        <p:xfrm>
          <a:off x="4709160" y="2286000"/>
          <a:ext cx="672084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Text 12"/>
          <p:cNvSpPr txBox="1"/>
          <p:nvPr/>
        </p:nvSpPr>
        <p:spPr>
          <a:xfrm>
            <a:off x="3566160" y="65196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1 · Calidad y Preparación de Datos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ANÁLISIS EXPLORATORIO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Preguntas de investigación: beca y programa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5440680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12700">
            <a:solidFill>
              <a:srgbClr val="E2E9F0"/>
            </a:solidFill>
            <a:prstDash val="solid"/>
          </a:ln>
          <a:effectLst>
            <a:outerShdw blurRad="101600" dist="25400" dir="5400000" algn="bl" rotWithShape="0">
              <a:srgbClr val="1B2A3A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874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1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4884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¿Existe diferencia en FinalGrade entre estudiantes con y sin beca?</a:t>
            </a:r>
            <a:endParaRPr lang="en-US" sz="135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777240" y="2926080"/>
          <a:ext cx="489204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 txBox="1"/>
          <p:nvPr/>
        </p:nvSpPr>
        <p:spPr>
          <a:xfrm>
            <a:off x="777240" y="52120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FA1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Diferencia: +0,29 pts </a:t>
            </a: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favor de los estudiantes con beca.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17920" y="1691640"/>
            <a:ext cx="5486400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12700">
            <a:solidFill>
              <a:srgbClr val="E2E9F0"/>
            </a:solidFill>
            <a:prstDash val="solid"/>
          </a:ln>
          <a:effectLst>
            <a:outerShdw blurRad="101600" dist="25400" dir="5400000" algn="bl" rotWithShape="0">
              <a:srgbClr val="1B2A3A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492240" y="1874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2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6492240" y="214884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programa académico presenta el mayor promedio?</a:t>
            </a:r>
            <a:endParaRPr lang="en-US" sz="1350" dirty="0"/>
          </a:p>
        </p:txBody>
      </p:sp>
      <p:graphicFrame>
        <p:nvGraphicFramePr>
          <p:cNvPr id="12" name="Chart 1"/>
          <p:cNvGraphicFramePr/>
          <p:nvPr/>
        </p:nvGraphicFramePr>
        <p:xfrm>
          <a:off x="6492240" y="2926080"/>
          <a:ext cx="502920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6492240" y="5212080"/>
            <a:ext cx="5074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Diferencia: solo 0,19 pts </a:t>
            </a: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el mayor (Administración) y el menor (Contador Auditor) — prácticamente insignificante.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3566160" y="65196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1 · Calidad y Preparación de Datos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ANÁLISIS EXPLORATORIO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Preguntas de investigación: horas de estudio y asistencia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5440680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12700">
            <a:solidFill>
              <a:srgbClr val="E2E9F0"/>
            </a:solidFill>
            <a:prstDash val="solid"/>
          </a:ln>
          <a:effectLst>
            <a:outerShdw blurRad="101600" dist="25400" dir="5400000" algn="bl" rotWithShape="0">
              <a:srgbClr val="1B2A3A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874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3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488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¿Relación entre StudyHours y FinalGrade?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974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0,49</a:t>
            </a:r>
            <a:endParaRPr lang="en-US" sz="4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61188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Correlación positiva de intensidad moderada: a mayor cantidad de horas de estudio semanal, mayor tiende a ser la nota final. Es un factor relevante, aunque no el único determinante.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691640"/>
            <a:ext cx="5486400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12700">
            <a:solidFill>
              <a:srgbClr val="E2E9F0"/>
            </a:solidFill>
            <a:prstDash val="solid"/>
          </a:ln>
          <a:effectLst>
            <a:outerShdw blurRad="101600" dist="25400" dir="5400000" algn="bl" rotWithShape="0">
              <a:srgbClr val="1B2A3A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492240" y="1874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4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21488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¿Relación entre Attendance y FinalGrade?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25146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0,59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3200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correlación más alta del dataset</a:t>
            </a:r>
            <a:endParaRPr lang="en-US" sz="1050" dirty="0"/>
          </a:p>
        </p:txBody>
      </p:sp>
      <p:graphicFrame>
        <p:nvGraphicFramePr>
          <p:cNvPr id="14" name="Chart 0"/>
          <p:cNvGraphicFramePr/>
          <p:nvPr/>
        </p:nvGraphicFramePr>
        <p:xfrm>
          <a:off x="6492240" y="3794760"/>
          <a:ext cx="502920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Text 12"/>
          <p:cNvSpPr txBox="1"/>
          <p:nvPr/>
        </p:nvSpPr>
        <p:spPr>
          <a:xfrm>
            <a:off x="6492240" y="36118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FinalGrade promedio por tramo de asistencia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3566160" y="65196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1 · Calidad y Preparación de Datos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ANÁLISIS EXPLORATORIO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 generales del EDA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80136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Asistencia y horas de estudio son los factores individuales más asociados al rendimiento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24028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AF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(r ≈ 0,59) y StudyHours (r ≈ 0,49) son las correlaciones más altas con FinalGrade.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15468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312724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beca mejora el rendimiento; el programa académico casi no influye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56616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AF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beca: +0,29 pts de diferencia. Entre programas: solo 0,19 pts — diferencia no relevante.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48056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480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45312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FinalGrade se distribuye de forma simétrica en torno al umbral de aprobación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489204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AF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4,17 y mediana 4,23 en la escala oficial [1.0, 10.0], sin sesgo marcado.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3566160" y="65196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1 · Calidad y Preparación de Datos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FA1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PIPELINE Y RESULTADO FINAL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Implementación mediante Pipeline y ColumnTransformer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2011680"/>
            <a:ext cx="1965960" cy="1051560"/>
          </a:xfrm>
          <a:prstGeom prst="roundRect">
            <a:avLst>
              <a:gd name="adj" fmla="val 7826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blurRad="101600" dist="25400" dir="5400000" algn="bl" rotWithShape="0">
              <a:srgbClr val="1B2A3A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12648" y="2121408"/>
            <a:ext cx="1746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(predictoras)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2468880"/>
            <a:ext cx="1746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variables</a:t>
            </a:r>
            <a:endParaRPr lang="en-US" sz="10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(7 numéricas + 2 categóricas)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42032" y="2427732"/>
            <a:ext cx="384048" cy="219456"/>
          </a:xfrm>
          <a:prstGeom prst="rightArrow">
            <a:avLst/>
          </a:prstGeom>
          <a:solidFill>
            <a:srgbClr val="9FB4C4"/>
          </a:solidFill>
          <a:ln/>
        </p:spPr>
      </p:sp>
      <p:sp>
        <p:nvSpPr>
          <p:cNvPr id="8" name="Shape 6"/>
          <p:cNvSpPr/>
          <p:nvPr/>
        </p:nvSpPr>
        <p:spPr>
          <a:xfrm>
            <a:off x="2999232" y="2011680"/>
            <a:ext cx="2331720" cy="1051560"/>
          </a:xfrm>
          <a:prstGeom prst="roundRect">
            <a:avLst>
              <a:gd name="adj" fmla="val 7826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101600" dist="25400" dir="5400000" algn="bl" rotWithShape="0">
              <a:srgbClr val="1B2A3A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108960" y="2121408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FunctionTransformer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3108960" y="2468880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corregir_inconsistencias()</a:t>
            </a:r>
            <a:endParaRPr lang="en-US" sz="10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NaN en valores inválidos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04104" y="2427732"/>
            <a:ext cx="384048" cy="219456"/>
          </a:xfrm>
          <a:prstGeom prst="rightArrow">
            <a:avLst/>
          </a:prstGeom>
          <a:solidFill>
            <a:srgbClr val="9FB4C4"/>
          </a:solidFill>
          <a:ln/>
        </p:spPr>
      </p:sp>
      <p:sp>
        <p:nvSpPr>
          <p:cNvPr id="12" name="Shape 10"/>
          <p:cNvSpPr/>
          <p:nvPr/>
        </p:nvSpPr>
        <p:spPr>
          <a:xfrm>
            <a:off x="5861304" y="2011680"/>
            <a:ext cx="3566160" cy="1051560"/>
          </a:xfrm>
          <a:prstGeom prst="roundRect">
            <a:avLst>
              <a:gd name="adj" fmla="val 7826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  <a:effectLst>
            <a:outerShdw blurRad="101600" dist="25400" dir="5400000" algn="bl" rotWithShape="0">
              <a:srgbClr val="1B2A3A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5971032" y="2121408"/>
            <a:ext cx="3346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ColumnTransformer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971032" y="2468880"/>
            <a:ext cx="3346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numérico + Pipeline categórico (en paralelo)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500616" y="2427732"/>
            <a:ext cx="384048" cy="219456"/>
          </a:xfrm>
          <a:prstGeom prst="rightArrow">
            <a:avLst/>
          </a:prstGeom>
          <a:solidFill>
            <a:srgbClr val="9FB4C4"/>
          </a:solidFill>
          <a:ln/>
        </p:spPr>
      </p:sp>
      <p:sp>
        <p:nvSpPr>
          <p:cNvPr id="16" name="Shape 14"/>
          <p:cNvSpPr/>
          <p:nvPr/>
        </p:nvSpPr>
        <p:spPr>
          <a:xfrm>
            <a:off x="9957816" y="2011680"/>
            <a:ext cx="1737360" cy="1051560"/>
          </a:xfrm>
          <a:prstGeom prst="roundRect">
            <a:avLst>
              <a:gd name="adj" fmla="val 7826"/>
            </a:avLst>
          </a:prstGeom>
          <a:solidFill>
            <a:srgbClr val="1FA187"/>
          </a:solidFill>
          <a:ln w="12700">
            <a:solidFill>
              <a:srgbClr val="1FA187"/>
            </a:solidFill>
            <a:prstDash val="solid"/>
          </a:ln>
          <a:effectLst>
            <a:outerShdw blurRad="101600" dist="25400" dir="5400000" algn="bl" rotWithShape="0">
              <a:srgbClr val="1B2A3A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10067544" y="2121408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X_clean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10067544" y="2468880"/>
            <a:ext cx="1517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Predictoras</a:t>
            </a:r>
            <a:endParaRPr lang="en-US" sz="10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tratadas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" y="3429000"/>
            <a:ext cx="5440680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2E9F0"/>
            </a:solidFill>
            <a:prstDash val="solid"/>
          </a:ln>
          <a:effectLst>
            <a:outerShdw blurRad="101600" dist="25400" dir="5400000" algn="bl" rotWithShape="0">
              <a:srgbClr val="1B2A3A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77240" y="359359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numérico  (7 variables)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68680" y="3977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WinsorizerIQR (factor 1,5) — outliers legítimos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68680" y="436168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SimpleImputer (mediana) — faltantes e inválidos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" y="474573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RobustScaler — escalado robusto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17920" y="3429000"/>
            <a:ext cx="5486400" cy="2194560"/>
          </a:xfrm>
          <a:prstGeom prst="roundRect">
            <a:avLst>
              <a:gd name="adj" fmla="val 3750"/>
            </a:avLst>
          </a:prstGeom>
          <a:solidFill>
            <a:srgbClr val="EAF3F1"/>
          </a:solidFill>
          <a:ln w="12700">
            <a:solidFill>
              <a:srgbClr val="E2E9F0"/>
            </a:solidFill>
            <a:prstDash val="solid"/>
          </a:ln>
          <a:effectLst>
            <a:outerShdw blurRad="101600" dist="25400" dir="5400000" algn="bl" rotWithShape="0">
              <a:srgbClr val="1B2A3A">
                <a:alpha val="1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6492240" y="359359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categórico  (2 variables)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583680" y="3977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SimpleImputer (moda) — valores faltantes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583680" y="436168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OrdinalEncoder — 1 columna por variable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583680" y="474573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(conserva las 11 columnas originales)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02920" y="5760720"/>
            <a:ext cx="11201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FinalGrade (y) </a:t>
            </a: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mantiene siempre separada de X, según lo exigido por la consigna, y solo se corrige su dominio fuera del Pipeline.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3566160" y="65196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1 · Calidad y Preparación de Datos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FA1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PIPELINE Y RESULTADO FINAL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Estado final de la calidad de los datos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6675120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12700">
            <a:solidFill>
              <a:srgbClr val="E2E9F0"/>
            </a:solidFill>
            <a:prstDash val="solid"/>
          </a:ln>
          <a:effectLst>
            <a:outerShdw blurRad="101600" dist="25400" dir="5400000" algn="bl" rotWithShape="0">
              <a:srgbClr val="1B2A3A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87452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original  vs.  dataset tratado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2286000"/>
            <a:ext cx="3337560" cy="457200"/>
          </a:xfrm>
          <a:prstGeom prst="rect">
            <a:avLst/>
          </a:prstGeom>
          <a:solidFill>
            <a:srgbClr val="1FA187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2286000"/>
            <a:ext cx="3172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114800" y="2286000"/>
            <a:ext cx="1371600" cy="457200"/>
          </a:xfrm>
          <a:prstGeom prst="rect">
            <a:avLst/>
          </a:prstGeom>
          <a:solidFill>
            <a:srgbClr val="1FA187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206240" y="2286000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0" y="2286000"/>
            <a:ext cx="1371600" cy="457200"/>
          </a:xfrm>
          <a:prstGeom prst="rect">
            <a:avLst/>
          </a:prstGeom>
          <a:solidFill>
            <a:srgbClr val="1FA187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577840" y="2286000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Tratado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77240" y="2743200"/>
            <a:ext cx="3337560" cy="457200"/>
          </a:xfrm>
          <a:prstGeom prst="rect">
            <a:avLst/>
          </a:prstGeom>
          <a:solidFill>
            <a:srgbClr val="EAF3F1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2743200"/>
            <a:ext cx="3172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Cantidad de registros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114800" y="2743200"/>
            <a:ext cx="1371600" cy="457200"/>
          </a:xfrm>
          <a:prstGeom prst="rect">
            <a:avLst/>
          </a:prstGeom>
          <a:solidFill>
            <a:srgbClr val="EAF3F1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206240" y="2743200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5.100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0" y="2743200"/>
            <a:ext cx="1371600" cy="457200"/>
          </a:xfrm>
          <a:prstGeom prst="rect">
            <a:avLst/>
          </a:prstGeom>
          <a:solidFill>
            <a:srgbClr val="EAF3F1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577840" y="2743200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A1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4.996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77240" y="3200400"/>
            <a:ext cx="33375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68680" y="3200400"/>
            <a:ext cx="3172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Cantidad de variables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114800" y="3200400"/>
            <a:ext cx="1371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206240" y="3200400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0" y="3200400"/>
            <a:ext cx="1371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577840" y="3200400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A1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77240" y="3657600"/>
            <a:ext cx="3337560" cy="457200"/>
          </a:xfrm>
          <a:prstGeom prst="rect">
            <a:avLst/>
          </a:prstGeom>
          <a:solidFill>
            <a:srgbClr val="EAF3F1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68680" y="3657600"/>
            <a:ext cx="3172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faltantes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114800" y="3657600"/>
            <a:ext cx="1371600" cy="457200"/>
          </a:xfrm>
          <a:prstGeom prst="rect">
            <a:avLst/>
          </a:prstGeom>
          <a:solidFill>
            <a:srgbClr val="EAF3F1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206240" y="3657600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1.335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0" y="3657600"/>
            <a:ext cx="1371600" cy="457200"/>
          </a:xfrm>
          <a:prstGeom prst="rect">
            <a:avLst/>
          </a:prstGeom>
          <a:solidFill>
            <a:srgbClr val="EAF3F1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577840" y="3657600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A1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777240" y="4114800"/>
            <a:ext cx="33375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68680" y="4114800"/>
            <a:ext cx="3172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duplicados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4114800" y="4114800"/>
            <a:ext cx="1371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206240" y="4114800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5486400" y="4114800"/>
            <a:ext cx="1371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577840" y="4114800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A1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777240" y="4572000"/>
            <a:ext cx="3337560" cy="457200"/>
          </a:xfrm>
          <a:prstGeom prst="rect">
            <a:avLst/>
          </a:prstGeom>
          <a:solidFill>
            <a:srgbClr val="EAF3F1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68680" y="4572000"/>
            <a:ext cx="3172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Inconsistencias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4114800" y="4572000"/>
            <a:ext cx="1371600" cy="457200"/>
          </a:xfrm>
          <a:prstGeom prst="rect">
            <a:avLst/>
          </a:prstGeom>
          <a:solidFill>
            <a:srgbClr val="EAF3F1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206240" y="4572000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133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5486400" y="4572000"/>
            <a:ext cx="1371600" cy="457200"/>
          </a:xfrm>
          <a:prstGeom prst="rect">
            <a:avLst/>
          </a:prstGeom>
          <a:solidFill>
            <a:srgbClr val="EAF3F1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577840" y="4572000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A1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777240" y="5029200"/>
            <a:ext cx="33375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68680" y="5029200"/>
            <a:ext cx="3172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tratados (IQR)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4114800" y="5029200"/>
            <a:ext cx="1371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4206240" y="5029200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5486400" y="5029200"/>
            <a:ext cx="1371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5577840" y="5029200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A1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304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7406640" y="1691640"/>
            <a:ext cx="4297680" cy="4434840"/>
          </a:xfrm>
          <a:prstGeom prst="roundRect">
            <a:avLst>
              <a:gd name="adj" fmla="val 1915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  <a:effectLst>
            <a:outerShdw blurRad="101600" dist="25400" dir="5400000" algn="bl" rotWithShape="0">
              <a:srgbClr val="1B2A3A">
                <a:alpha val="12000"/>
              </a:srgbClr>
            </a:outerShdw>
          </a:effectLst>
        </p:spPr>
      </p:sp>
      <p:sp>
        <p:nvSpPr>
          <p:cNvPr id="49" name="Text 47"/>
          <p:cNvSpPr txBox="1"/>
          <p:nvPr/>
        </p:nvSpPr>
        <p:spPr>
          <a:xfrm>
            <a:off x="7680960" y="18745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final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7680960" y="2350008"/>
            <a:ext cx="256032" cy="256032"/>
          </a:xfrm>
          <a:prstGeom prst="ellipse">
            <a:avLst/>
          </a:prstGeom>
          <a:solidFill>
            <a:srgbClr val="1FA187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7680960" y="23500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52" name="Text 50"/>
          <p:cNvSpPr txBox="1"/>
          <p:nvPr/>
        </p:nvSpPr>
        <p:spPr>
          <a:xfrm>
            <a:off x="8028432" y="231343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valores nulos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7680960" y="2807208"/>
            <a:ext cx="256032" cy="256032"/>
          </a:xfrm>
          <a:prstGeom prst="ellipse">
            <a:avLst/>
          </a:prstGeom>
          <a:solidFill>
            <a:srgbClr val="1FA187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7680960" y="28072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55" name="Text 53"/>
          <p:cNvSpPr txBox="1"/>
          <p:nvPr/>
        </p:nvSpPr>
        <p:spPr>
          <a:xfrm>
            <a:off x="8028432" y="277063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registros duplicados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7680960" y="3264408"/>
            <a:ext cx="256032" cy="256032"/>
          </a:xfrm>
          <a:prstGeom prst="ellipse">
            <a:avLst/>
          </a:prstGeom>
          <a:solidFill>
            <a:srgbClr val="1FA187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7680960" y="32644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58" name="Text 56"/>
          <p:cNvSpPr txBox="1"/>
          <p:nvPr/>
        </p:nvSpPr>
        <p:spPr>
          <a:xfrm>
            <a:off x="8028432" y="322783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inconsistencias de dominio/formato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7680960" y="3721608"/>
            <a:ext cx="256032" cy="256032"/>
          </a:xfrm>
          <a:prstGeom prst="ellipse">
            <a:avLst/>
          </a:prstGeom>
          <a:solidFill>
            <a:srgbClr val="1FA187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7680960" y="37216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61" name="Text 59"/>
          <p:cNvSpPr txBox="1"/>
          <p:nvPr/>
        </p:nvSpPr>
        <p:spPr>
          <a:xfrm>
            <a:off x="8028432" y="368503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FinalGrade dentro de [1.0, 10.0]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7680960" y="4178808"/>
            <a:ext cx="256032" cy="256032"/>
          </a:xfrm>
          <a:prstGeom prst="ellipse">
            <a:avLst/>
          </a:prstGeom>
          <a:solidFill>
            <a:srgbClr val="1FA187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7680960" y="41788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64" name="Text 62"/>
          <p:cNvSpPr txBox="1"/>
          <p:nvPr/>
        </p:nvSpPr>
        <p:spPr>
          <a:xfrm>
            <a:off x="8028432" y="414223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mantienen las 11 variables originales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7680960" y="4709160"/>
            <a:ext cx="3703320" cy="0"/>
          </a:xfrm>
          <a:prstGeom prst="line">
            <a:avLst/>
          </a:prstGeom>
          <a:noFill/>
          <a:ln w="12700">
            <a:solidFill>
              <a:srgbClr val="2A4A6B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7680960" y="4892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rendimiento_academico_limpio.csv</a:t>
            </a:r>
            <a:endParaRPr lang="en-US" sz="1150" dirty="0"/>
          </a:p>
        </p:txBody>
      </p:sp>
      <p:sp>
        <p:nvSpPr>
          <p:cNvPr id="67" name="Text 65"/>
          <p:cNvSpPr txBox="1"/>
          <p:nvPr/>
        </p:nvSpPr>
        <p:spPr>
          <a:xfrm>
            <a:off x="7680960" y="52395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F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4.996 registros × 11 variables</a:t>
            </a:r>
            <a:endParaRPr lang="en-US" sz="1150" dirty="0"/>
          </a:p>
        </p:txBody>
      </p:sp>
      <p:sp>
        <p:nvSpPr>
          <p:cNvPr id="69" name="Text 67"/>
          <p:cNvSpPr txBox="1"/>
          <p:nvPr/>
        </p:nvSpPr>
        <p:spPr>
          <a:xfrm>
            <a:off x="3566160" y="65196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1 · Calidad y Preparación de Datos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065A82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206240"/>
            <a:ext cx="4206240" cy="4206240"/>
          </a:xfrm>
          <a:prstGeom prst="ellipse">
            <a:avLst/>
          </a:prstGeom>
          <a:solidFill>
            <a:srgbClr val="1C7293">
              <a:alpha val="2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6400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00584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datos crudos a un dataset</a:t>
            </a:r>
            <a:endParaRPr lang="en-US" sz="3200" dirty="0"/>
          </a:p>
          <a:p>
            <a:pPr marL="0" indent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confiable para el análisis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822960" y="2697480"/>
            <a:ext cx="3383280" cy="1463040"/>
          </a:xfrm>
          <a:prstGeom prst="roundRect">
            <a:avLst>
              <a:gd name="adj" fmla="val 5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78892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FA1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5661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50" dirty="0">
                <a:solidFill>
                  <a:srgbClr val="D6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 de calidad</a:t>
            </a:r>
            <a:endParaRPr lang="en-US" sz="115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150" dirty="0">
                <a:solidFill>
                  <a:srgbClr val="D6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remanentes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80560" y="2697480"/>
            <a:ext cx="3383280" cy="1463040"/>
          </a:xfrm>
          <a:prstGeom prst="roundRect">
            <a:avLst>
              <a:gd name="adj" fmla="val 5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80560" y="278892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304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4480560" y="35661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50" dirty="0">
                <a:solidFill>
                  <a:srgbClr val="D6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tratados</a:t>
            </a:r>
            <a:endParaRPr lang="en-US" sz="115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150" dirty="0">
                <a:solidFill>
                  <a:srgbClr val="D6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Winsorización IQR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38160" y="2697480"/>
            <a:ext cx="3383280" cy="1463040"/>
          </a:xfrm>
          <a:prstGeom prst="roundRect">
            <a:avLst>
              <a:gd name="adj" fmla="val 5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138160" y="278892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7FB8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4.996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8138160" y="35661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50" dirty="0">
                <a:solidFill>
                  <a:srgbClr val="D6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limpios</a:t>
            </a:r>
            <a:endParaRPr lang="en-US" sz="115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150" dirty="0">
                <a:solidFill>
                  <a:srgbClr val="D6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listos para modelar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4348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AF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pipeline reproducible en scikit-learn permite volver a ejecutar todo el tratamiento sobre el dataset original, garantizando consistencia para futuros modelos predictivos de rendimiento académico.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349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¡Gracias!  ¿Preguntas?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F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Renato Acosta · Bruno Aldana · Alanis Figueroa · Benjamín Jara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3566160" y="65196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1 · Calidad y Preparación de Datos</a:t>
            </a:r>
            <a:endParaRPr lang="en-US" sz="10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38</TotalTime>
  <Words>1474</Words>
  <Application>Microsoft Office PowerPoint</Application>
  <PresentationFormat>Panorámica</PresentationFormat>
  <Paragraphs>269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2" baseType="lpstr">
      <vt:lpstr>Aptos</vt:lpstr>
      <vt:lpstr>Arial</vt:lpstr>
      <vt:lpstr>Calibri</vt:lpstr>
      <vt:lpstr>Cambria</vt:lpstr>
      <vt:lpstr>Century Gothic</vt:lpstr>
      <vt:lpstr>Courier New</vt:lpstr>
      <vt:lpstr>Wingdings 3</vt:lpstr>
      <vt:lpstr>Ion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Asus</cp:lastModifiedBy>
  <cp:revision>3</cp:revision>
  <dcterms:created xsi:type="dcterms:W3CDTF">2026-09-02T22:35:45Z</dcterms:created>
  <dcterms:modified xsi:type="dcterms:W3CDTF">2026-09-04T01:21:16Z</dcterms:modified>
</cp:coreProperties>
</file>